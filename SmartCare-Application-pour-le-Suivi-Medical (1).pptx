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7" r:id="rId1"/>
  </p:sldMasterIdLst>
  <p:notesMasterIdLst>
    <p:notesMasterId r:id="rId16"/>
  </p:notesMasterIdLst>
  <p:sldIdLst>
    <p:sldId id="256" r:id="rId2"/>
    <p:sldId id="258" r:id="rId3"/>
    <p:sldId id="271" r:id="rId4"/>
    <p:sldId id="259" r:id="rId5"/>
    <p:sldId id="260" r:id="rId6"/>
    <p:sldId id="267" r:id="rId7"/>
    <p:sldId id="268" r:id="rId8"/>
    <p:sldId id="270" r:id="rId9"/>
    <p:sldId id="261" r:id="rId10"/>
    <p:sldId id="262" r:id="rId11"/>
    <p:sldId id="263" r:id="rId12"/>
    <p:sldId id="264" r:id="rId13"/>
    <p:sldId id="265" r:id="rId14"/>
    <p:sldId id="266" r:id="rId15"/>
  </p:sldIdLst>
  <p:sldSz cx="14630400" cy="8229600"/>
  <p:notesSz cx="8229600" cy="14630400"/>
  <p:embeddedFontLst>
    <p:embeddedFont>
      <p:font typeface="Barlow Bold" panose="020B0604020202020204" charset="0"/>
      <p:bold r:id="rId17"/>
    </p:embeddedFont>
    <p:embeddedFont>
      <p:font typeface="Consolas" panose="020B0609020204030204" pitchFamily="49" charset="0"/>
      <p:regular r:id="rId18"/>
      <p:bold r:id="rId19"/>
      <p:italic r:id="rId20"/>
      <p:boldItalic r:id="rId21"/>
    </p:embeddedFont>
    <p:embeddedFont>
      <p:font typeface="Montserrat" panose="00000500000000000000" pitchFamily="2" charset="0"/>
      <p:regular r:id="rId22"/>
      <p:bold r:id="rId23"/>
      <p:italic r:id="rId24"/>
      <p:boldItalic r:id="rId2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20" y="29"/>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35F344F5-A824-4381-AD3A-FC24A7291A8F}" type="datetimeFigureOut">
              <a:rPr lang="fr-FR" smtClean="0"/>
              <a:t>21/04/2025</a:t>
            </a:fld>
            <a:endParaRPr lang="fr-FR"/>
          </a:p>
        </p:txBody>
      </p:sp>
      <p:sp>
        <p:nvSpPr>
          <p:cNvPr id="4" name="Espace réservé de l'image des diapositives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CD670625-B3ED-45C0-9C0B-3951FEAF7C80}" type="slidenum">
              <a:rPr lang="fr-FR" smtClean="0"/>
              <a:t>‹N°›</a:t>
            </a:fld>
            <a:endParaRPr lang="fr-FR"/>
          </a:p>
        </p:txBody>
      </p:sp>
    </p:spTree>
    <p:extLst>
      <p:ext uri="{BB962C8B-B14F-4D97-AF65-F5344CB8AC3E}">
        <p14:creationId xmlns:p14="http://schemas.microsoft.com/office/powerpoint/2010/main" val="1668549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fr-FR"/>
              <a:t>Modifiez le style du titre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188123524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24638299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fr-FR"/>
              <a:t>Modifiez le style du titre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11593179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285681016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fr-FR"/>
              <a:t>Modifiez le style du titre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a:t>Cliquez pour modifier les styles du texte du masque</a:t>
            </a:r>
          </a:p>
        </p:txBody>
      </p:sp>
      <p:sp>
        <p:nvSpPr>
          <p:cNvPr id="4" name="Content Placeholder 3"/>
          <p:cNvSpPr>
            <a:spLocks noGrp="1"/>
          </p:cNvSpPr>
          <p:nvPr>
            <p:ph sz="half" idx="2"/>
          </p:nvPr>
        </p:nvSpPr>
        <p:spPr>
          <a:xfrm>
            <a:off x="1007746" y="3006090"/>
            <a:ext cx="6189344" cy="44215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fr-FR"/>
              <a:t>Cliquez pour modifier les styles du texte du masque</a:t>
            </a:r>
          </a:p>
        </p:txBody>
      </p:sp>
      <p:sp>
        <p:nvSpPr>
          <p:cNvPr id="6" name="Content Placeholder 5"/>
          <p:cNvSpPr>
            <a:spLocks noGrp="1"/>
          </p:cNvSpPr>
          <p:nvPr>
            <p:ph sz="quarter" idx="4"/>
          </p:nvPr>
        </p:nvSpPr>
        <p:spPr>
          <a:xfrm>
            <a:off x="7406640" y="3006090"/>
            <a:ext cx="6219826" cy="44215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9543056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19812864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375293830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fr-FR"/>
              <a:t>Modifiez le style du titre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367542724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fr-FR"/>
              <a:t>Modifiez le style du titre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68752175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17814585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a:t>
            </a:fld>
            <a:endParaRPr lang="en-US" dirty="0"/>
          </a:p>
        </p:txBody>
      </p:sp>
    </p:spTree>
    <p:extLst>
      <p:ext uri="{BB962C8B-B14F-4D97-AF65-F5344CB8AC3E}">
        <p14:creationId xmlns:p14="http://schemas.microsoft.com/office/powerpoint/2010/main" val="152339210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8182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9180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82449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64279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66426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50595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669263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7244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02000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7833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smtClean="0"/>
              <a:t>4/21/2025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smtClean="0"/>
              <a:t>‹N°›</a:t>
            </a:fld>
            <a:endParaRPr lang="en-US" dirty="0"/>
          </a:p>
        </p:txBody>
      </p:sp>
    </p:spTree>
    <p:extLst>
      <p:ext uri="{BB962C8B-B14F-4D97-AF65-F5344CB8AC3E}">
        <p14:creationId xmlns:p14="http://schemas.microsoft.com/office/powerpoint/2010/main" val="2171809472"/>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1">
            <a:lumMod val="60000"/>
            <a:lumOff val="40000"/>
          </a:scheme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8309" y="1122744"/>
            <a:ext cx="7627382" cy="2987055"/>
          </a:xfrm>
          <a:prstGeom prst="rect">
            <a:avLst/>
          </a:prstGeom>
          <a:noFill/>
          <a:ln/>
        </p:spPr>
        <p:txBody>
          <a:bodyPr wrap="square" lIns="0" tIns="0" rIns="0" bIns="0" rtlCol="0" anchor="t"/>
          <a:lstStyle/>
          <a:p>
            <a:pPr marL="0" indent="0" algn="l">
              <a:lnSpc>
                <a:spcPts val="5600"/>
              </a:lnSpc>
              <a:buNone/>
            </a:pPr>
            <a:r>
              <a:rPr lang="en-US" sz="5400" b="1" dirty="0">
                <a:solidFill>
                  <a:srgbClr val="7030A0"/>
                </a:solidFill>
                <a:latin typeface="Barlow Bold" pitchFamily="34" charset="0"/>
                <a:ea typeface="Barlow Bold" pitchFamily="34" charset="-122"/>
                <a:cs typeface="Barlow Bold" pitchFamily="34" charset="-120"/>
              </a:rPr>
              <a:t>SmartCare : Application pour le Suivi Médical</a:t>
            </a:r>
            <a:endParaRPr lang="en-US" sz="5400" dirty="0">
              <a:solidFill>
                <a:srgbClr val="7030A0"/>
              </a:solidFill>
            </a:endParaRPr>
          </a:p>
        </p:txBody>
      </p:sp>
      <p:sp>
        <p:nvSpPr>
          <p:cNvPr id="4" name="Text 1"/>
          <p:cNvSpPr/>
          <p:nvPr/>
        </p:nvSpPr>
        <p:spPr>
          <a:xfrm>
            <a:off x="758309" y="4307399"/>
            <a:ext cx="7627382" cy="433388"/>
          </a:xfrm>
          <a:prstGeom prst="rect">
            <a:avLst/>
          </a:prstGeom>
          <a:noFill/>
          <a:ln/>
        </p:spPr>
        <p:txBody>
          <a:bodyPr wrap="none" lIns="0" tIns="0" rIns="0" bIns="0" rtlCol="0" anchor="t"/>
          <a:lstStyle/>
          <a:p>
            <a:pPr marL="0" indent="0" algn="l">
              <a:lnSpc>
                <a:spcPts val="3400"/>
              </a:lnSpc>
              <a:buNone/>
            </a:pPr>
            <a:r>
              <a:rPr lang="en-US" sz="3600" dirty="0"/>
              <a:t>Sarra naili</a:t>
            </a:r>
          </a:p>
          <a:p>
            <a:pPr marL="0" indent="0" algn="l">
              <a:lnSpc>
                <a:spcPts val="3400"/>
              </a:lnSpc>
              <a:buNone/>
            </a:pPr>
            <a:r>
              <a:rPr lang="en-US" sz="3600" dirty="0"/>
              <a:t>Houwaida tray </a:t>
            </a:r>
          </a:p>
        </p:txBody>
      </p:sp>
      <p:sp>
        <p:nvSpPr>
          <p:cNvPr id="5" name="Text 2"/>
          <p:cNvSpPr/>
          <p:nvPr/>
        </p:nvSpPr>
        <p:spPr>
          <a:xfrm>
            <a:off x="758309" y="5123404"/>
            <a:ext cx="7627382" cy="433388"/>
          </a:xfrm>
          <a:prstGeom prst="rect">
            <a:avLst/>
          </a:prstGeom>
          <a:noFill/>
          <a:ln/>
        </p:spPr>
        <p:txBody>
          <a:bodyPr wrap="none" lIns="0" tIns="0" rIns="0" bIns="0" rtlCol="0" anchor="t"/>
          <a:lstStyle/>
          <a:p>
            <a:pPr marL="0" indent="0" algn="l">
              <a:lnSpc>
                <a:spcPts val="3400"/>
              </a:lnSpc>
              <a:buNone/>
            </a:pPr>
            <a:endParaRPr lang="en-US" sz="2800" dirty="0"/>
          </a:p>
        </p:txBody>
      </p:sp>
      <p:sp>
        <p:nvSpPr>
          <p:cNvPr id="6" name="ZoneTexte 5">
            <a:extLst>
              <a:ext uri="{FF2B5EF4-FFF2-40B4-BE49-F238E27FC236}">
                <a16:creationId xmlns:a16="http://schemas.microsoft.com/office/drawing/2014/main" id="{EC642569-EFE3-C9AD-6017-41762CBAD5AE}"/>
              </a:ext>
            </a:extLst>
          </p:cNvPr>
          <p:cNvSpPr txBox="1"/>
          <p:nvPr/>
        </p:nvSpPr>
        <p:spPr>
          <a:xfrm>
            <a:off x="14103228" y="7626013"/>
            <a:ext cx="393056" cy="584775"/>
          </a:xfrm>
          <a:prstGeom prst="rect">
            <a:avLst/>
          </a:prstGeom>
          <a:noFill/>
        </p:spPr>
        <p:txBody>
          <a:bodyPr wrap="none" rtlCol="0">
            <a:spAutoFit/>
          </a:bodyPr>
          <a:lstStyle/>
          <a:p>
            <a:r>
              <a:rPr lang="fr-FR" sz="3200" dirty="0"/>
              <a:t>1</a:t>
            </a:r>
          </a:p>
        </p:txBody>
      </p:sp>
      <p:pic>
        <p:nvPicPr>
          <p:cNvPr id="8" name="Image 7">
            <a:extLst>
              <a:ext uri="{FF2B5EF4-FFF2-40B4-BE49-F238E27FC236}">
                <a16:creationId xmlns:a16="http://schemas.microsoft.com/office/drawing/2014/main" id="{1C8475D1-681C-83E4-E456-FFF86A345FD6}"/>
              </a:ext>
            </a:extLst>
          </p:cNvPr>
          <p:cNvPicPr>
            <a:picLocks noChangeAspect="1"/>
          </p:cNvPicPr>
          <p:nvPr/>
        </p:nvPicPr>
        <p:blipFill>
          <a:blip r:embed="rId4"/>
          <a:stretch>
            <a:fillRect/>
          </a:stretch>
        </p:blipFill>
        <p:spPr>
          <a:xfrm>
            <a:off x="12839490" y="18812"/>
            <a:ext cx="1656794" cy="119866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ext 0"/>
          <p:cNvSpPr/>
          <p:nvPr/>
        </p:nvSpPr>
        <p:spPr>
          <a:xfrm>
            <a:off x="989803" y="927049"/>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7030A0"/>
                </a:solidFill>
                <a:latin typeface="Barlow Bold" pitchFamily="34" charset="0"/>
                <a:ea typeface="Barlow Bold" pitchFamily="34" charset="-122"/>
                <a:cs typeface="Barlow Bold" pitchFamily="34" charset="-120"/>
              </a:rPr>
              <a:t>Introduction:</a:t>
            </a:r>
            <a:endParaRPr lang="en-US" sz="4450" dirty="0">
              <a:solidFill>
                <a:srgbClr val="7030A0"/>
              </a:solidFill>
            </a:endParaRPr>
          </a:p>
        </p:txBody>
      </p:sp>
      <p:sp>
        <p:nvSpPr>
          <p:cNvPr id="3" name="Text 1"/>
          <p:cNvSpPr/>
          <p:nvPr/>
        </p:nvSpPr>
        <p:spPr>
          <a:xfrm>
            <a:off x="758309" y="2421424"/>
            <a:ext cx="13113782" cy="2243138"/>
          </a:xfrm>
          <a:prstGeom prst="rect">
            <a:avLst/>
          </a:prstGeom>
          <a:noFill/>
          <a:ln/>
        </p:spPr>
        <p:txBody>
          <a:bodyPr wrap="square" lIns="0" tIns="0" rIns="0" bIns="0" rtlCol="0" anchor="t"/>
          <a:lstStyle/>
          <a:p>
            <a:pPr marL="0" indent="0" algn="l">
              <a:lnSpc>
                <a:spcPts val="3400"/>
              </a:lnSpc>
              <a:buNone/>
            </a:pPr>
            <a:r>
              <a:rPr lang="en-US" sz="2100" dirty="0">
                <a:solidFill>
                  <a:srgbClr val="272525"/>
                </a:solidFill>
                <a:highlight>
                  <a:srgbClr val="D2CFFC"/>
                </a:highlight>
                <a:latin typeface="Consolas" pitchFamily="34" charset="0"/>
                <a:ea typeface="Consolas" pitchFamily="34" charset="-122"/>
                <a:cs typeface="Consolas" pitchFamily="34" charset="-120"/>
              </a:rPr>
              <a:t>SmartCare est une solution innovante combinant un bracelet intelligent et une application mobile pour le suivi des patients atteints de maladies chroniques. Elle permet de surveiller les paramètres vitaux en temps réel, d'envoyer des rappels pour la prise de médicaments et de détecter les anomalies (crises, chutes) avec des alertes automatiques aux proches et aux médecins. Grâce à cette technologie, SmartCare améliore la prise en charge des patients et réduit les risques liés à leur état de santé.</a:t>
            </a:r>
            <a:endParaRPr lang="en-US" sz="2100" dirty="0"/>
          </a:p>
        </p:txBody>
      </p:sp>
      <p:sp>
        <p:nvSpPr>
          <p:cNvPr id="4" name="ZoneTexte 3">
            <a:extLst>
              <a:ext uri="{FF2B5EF4-FFF2-40B4-BE49-F238E27FC236}">
                <a16:creationId xmlns:a16="http://schemas.microsoft.com/office/drawing/2014/main" id="{783F6546-B6E7-E02E-B9B3-A598A7B289A4}"/>
              </a:ext>
            </a:extLst>
          </p:cNvPr>
          <p:cNvSpPr txBox="1"/>
          <p:nvPr/>
        </p:nvSpPr>
        <p:spPr>
          <a:xfrm>
            <a:off x="14132186" y="7610773"/>
            <a:ext cx="393056" cy="584775"/>
          </a:xfrm>
          <a:prstGeom prst="rect">
            <a:avLst/>
          </a:prstGeom>
          <a:noFill/>
        </p:spPr>
        <p:txBody>
          <a:bodyPr wrap="none" rtlCol="0">
            <a:spAutoFit/>
          </a:bodyPr>
          <a:lstStyle/>
          <a:p>
            <a:r>
              <a:rPr lang="fr-FR" sz="3200"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5A8FFAD-4B72-E34E-7FE3-CF88494375CE}"/>
              </a:ext>
            </a:extLst>
          </p:cNvPr>
          <p:cNvSpPr txBox="1"/>
          <p:nvPr/>
        </p:nvSpPr>
        <p:spPr>
          <a:xfrm>
            <a:off x="115746" y="1766704"/>
            <a:ext cx="7315200" cy="478785"/>
          </a:xfrm>
          <a:prstGeom prst="rect">
            <a:avLst/>
          </a:prstGeom>
          <a:noFill/>
        </p:spPr>
        <p:txBody>
          <a:bodyPr wrap="square">
            <a:spAutoFit/>
          </a:bodyPr>
          <a:lstStyle/>
          <a:p>
            <a:pPr marL="0" indent="0">
              <a:lnSpc>
                <a:spcPts val="2700"/>
              </a:lnSpc>
              <a:buNone/>
            </a:pPr>
            <a:r>
              <a:rPr lang="en-US" sz="4000" dirty="0">
                <a:solidFill>
                  <a:schemeClr val="tx1">
                    <a:lumMod val="85000"/>
                    <a:lumOff val="15000"/>
                  </a:schemeClr>
                </a:solidFill>
                <a:latin typeface="Montserrat" pitchFamily="34" charset="0"/>
                <a:ea typeface="Montserrat" pitchFamily="34" charset="-122"/>
                <a:cs typeface="Montserrat" pitchFamily="34" charset="-120"/>
              </a:rPr>
              <a:t>       1-Le Carnet du </a:t>
            </a:r>
            <a:r>
              <a:rPr lang="en-US" sz="4000" dirty="0" err="1">
                <a:solidFill>
                  <a:schemeClr val="tx1">
                    <a:lumMod val="85000"/>
                    <a:lumOff val="15000"/>
                  </a:schemeClr>
                </a:solidFill>
                <a:latin typeface="Montserrat" pitchFamily="34" charset="0"/>
                <a:ea typeface="Montserrat" pitchFamily="34" charset="-122"/>
                <a:cs typeface="Montserrat" pitchFamily="34" charset="-120"/>
              </a:rPr>
              <a:t>produits</a:t>
            </a:r>
            <a:endParaRPr lang="en-US" sz="4800" b="1" dirty="0">
              <a:solidFill>
                <a:schemeClr val="tx1">
                  <a:lumMod val="75000"/>
                  <a:lumOff val="25000"/>
                </a:schemeClr>
              </a:solidFill>
              <a:latin typeface="Montserrat" pitchFamily="34" charset="0"/>
              <a:ea typeface="Montserrat" pitchFamily="34" charset="-122"/>
              <a:cs typeface="Montserrat" pitchFamily="34" charset="-120"/>
            </a:endParaRPr>
          </a:p>
        </p:txBody>
      </p:sp>
      <p:sp>
        <p:nvSpPr>
          <p:cNvPr id="7" name="ZoneTexte 6">
            <a:extLst>
              <a:ext uri="{FF2B5EF4-FFF2-40B4-BE49-F238E27FC236}">
                <a16:creationId xmlns:a16="http://schemas.microsoft.com/office/drawing/2014/main" id="{075EF36C-2A5C-7845-83C7-500B34FB44FF}"/>
              </a:ext>
            </a:extLst>
          </p:cNvPr>
          <p:cNvSpPr txBox="1"/>
          <p:nvPr/>
        </p:nvSpPr>
        <p:spPr>
          <a:xfrm>
            <a:off x="1076446" y="2129742"/>
            <a:ext cx="10579261" cy="4770537"/>
          </a:xfrm>
          <a:prstGeom prst="rect">
            <a:avLst/>
          </a:prstGeom>
          <a:noFill/>
        </p:spPr>
        <p:txBody>
          <a:bodyPr wrap="square">
            <a:spAutoFit/>
          </a:bodyPr>
          <a:lstStyle/>
          <a:p>
            <a:r>
              <a:rPr lang="fr-FR" altLang="fr-FR" sz="4000" dirty="0">
                <a:solidFill>
                  <a:schemeClr val="tx1">
                    <a:lumMod val="85000"/>
                    <a:lumOff val="15000"/>
                  </a:schemeClr>
                </a:solidFill>
                <a:latin typeface="Montserrat" panose="00000500000000000000" pitchFamily="2" charset="0"/>
              </a:rPr>
              <a:t>2</a:t>
            </a:r>
            <a:r>
              <a:rPr kumimoji="0" lang="fr-FR" altLang="fr-FR" sz="4000" i="0" strike="noStrike" cap="none" normalizeH="0" baseline="0" dirty="0">
                <a:ln>
                  <a:noFill/>
                </a:ln>
                <a:solidFill>
                  <a:schemeClr val="tx1">
                    <a:lumMod val="85000"/>
                    <a:lumOff val="15000"/>
                  </a:schemeClr>
                </a:solidFill>
                <a:effectLst/>
                <a:latin typeface="Montserrat" panose="00000500000000000000" pitchFamily="2" charset="0"/>
              </a:rPr>
              <a:t>-Diagramme de classes</a:t>
            </a:r>
            <a:endParaRPr lang="fr-FR" altLang="fr-FR" sz="4000" dirty="0">
              <a:solidFill>
                <a:schemeClr val="tx1">
                  <a:lumMod val="85000"/>
                  <a:lumOff val="15000"/>
                </a:schemeClr>
              </a:solidFill>
              <a:latin typeface="Montserrat" panose="00000500000000000000" pitchFamily="2" charset="0"/>
            </a:endParaRPr>
          </a:p>
          <a:p>
            <a:r>
              <a:rPr lang="fr-FR" altLang="fr-FR" sz="4000" dirty="0">
                <a:solidFill>
                  <a:schemeClr val="tx1">
                    <a:lumMod val="85000"/>
                    <a:lumOff val="15000"/>
                  </a:schemeClr>
                </a:solidFill>
                <a:latin typeface="Montserrat" panose="00000500000000000000" pitchFamily="2" charset="0"/>
              </a:rPr>
              <a:t>3</a:t>
            </a:r>
            <a:r>
              <a:rPr kumimoji="0" lang="fr-FR" altLang="fr-FR" sz="4000" i="0" strike="noStrike" cap="none" normalizeH="0" baseline="0" dirty="0">
                <a:ln>
                  <a:noFill/>
                </a:ln>
                <a:solidFill>
                  <a:schemeClr val="tx1">
                    <a:lumMod val="85000"/>
                    <a:lumOff val="15000"/>
                  </a:schemeClr>
                </a:solidFill>
                <a:effectLst/>
                <a:latin typeface="Montserrat" panose="00000500000000000000" pitchFamily="2" charset="0"/>
              </a:rPr>
              <a:t>-Diagramme de cas d’utilisation</a:t>
            </a:r>
          </a:p>
          <a:p>
            <a:r>
              <a:rPr lang="en-US" sz="4000" dirty="0">
                <a:solidFill>
                  <a:srgbClr val="272525"/>
                </a:solidFill>
                <a:latin typeface="Montserrat" pitchFamily="34" charset="0"/>
                <a:ea typeface="Montserrat" pitchFamily="34" charset="-122"/>
                <a:cs typeface="Montserrat" pitchFamily="34" charset="-120"/>
              </a:rPr>
              <a:t>4-Les Sprints</a:t>
            </a:r>
          </a:p>
          <a:p>
            <a:r>
              <a:rPr lang="en-US" sz="4000" dirty="0">
                <a:solidFill>
                  <a:srgbClr val="272525"/>
                </a:solidFill>
                <a:latin typeface="Montserrat" pitchFamily="34" charset="0"/>
                <a:ea typeface="Montserrat" pitchFamily="34" charset="-122"/>
                <a:cs typeface="Montserrat" pitchFamily="34" charset="-120"/>
              </a:rPr>
              <a:t>5- Vision et Impact du </a:t>
            </a:r>
            <a:r>
              <a:rPr lang="en-US" sz="4000" dirty="0" err="1">
                <a:solidFill>
                  <a:srgbClr val="272525"/>
                </a:solidFill>
                <a:latin typeface="Montserrat" pitchFamily="34" charset="0"/>
                <a:ea typeface="Montserrat" pitchFamily="34" charset="-122"/>
                <a:cs typeface="Montserrat" pitchFamily="34" charset="-120"/>
              </a:rPr>
              <a:t>Projet</a:t>
            </a:r>
            <a:endParaRPr lang="en-US" sz="4000" dirty="0">
              <a:solidFill>
                <a:srgbClr val="272525"/>
              </a:solidFill>
              <a:latin typeface="Montserrat" pitchFamily="34" charset="0"/>
              <a:ea typeface="Montserrat" pitchFamily="34" charset="-122"/>
              <a:cs typeface="Montserrat" pitchFamily="34" charset="-120"/>
            </a:endParaRPr>
          </a:p>
          <a:p>
            <a:r>
              <a:rPr lang="en-US" sz="4000" dirty="0">
                <a:solidFill>
                  <a:srgbClr val="272525"/>
                </a:solidFill>
                <a:latin typeface="Montserrat" pitchFamily="34" charset="0"/>
                <a:ea typeface="Montserrat" pitchFamily="34" charset="-122"/>
                <a:cs typeface="Montserrat" pitchFamily="34" charset="-120"/>
              </a:rPr>
              <a:t>6-Conclusion</a:t>
            </a:r>
          </a:p>
          <a:p>
            <a:endParaRPr lang="en-US" sz="4800" b="1" dirty="0">
              <a:solidFill>
                <a:srgbClr val="272525"/>
              </a:solidFill>
              <a:latin typeface="Montserrat" pitchFamily="34" charset="0"/>
              <a:ea typeface="Montserrat" pitchFamily="34" charset="-122"/>
              <a:cs typeface="Montserrat" pitchFamily="34" charset="-120"/>
            </a:endParaRPr>
          </a:p>
          <a:p>
            <a:r>
              <a:rPr kumimoji="0" lang="fr-FR" altLang="fr-FR" sz="4800" i="0" strike="noStrike" cap="none" normalizeH="0" baseline="0" dirty="0">
                <a:ln>
                  <a:noFill/>
                </a:ln>
                <a:solidFill>
                  <a:schemeClr val="tx1">
                    <a:lumMod val="85000"/>
                    <a:lumOff val="15000"/>
                  </a:schemeClr>
                </a:solidFill>
                <a:effectLst/>
                <a:latin typeface="Montserrat" panose="00000500000000000000" pitchFamily="2" charset="0"/>
              </a:rPr>
              <a:t>  </a:t>
            </a:r>
            <a:endParaRPr lang="fr-FR" sz="4800" dirty="0">
              <a:latin typeface="Montserrat" panose="00000500000000000000" pitchFamily="2" charset="0"/>
            </a:endParaRPr>
          </a:p>
        </p:txBody>
      </p:sp>
      <p:sp>
        <p:nvSpPr>
          <p:cNvPr id="9" name="ZoneTexte 8">
            <a:extLst>
              <a:ext uri="{FF2B5EF4-FFF2-40B4-BE49-F238E27FC236}">
                <a16:creationId xmlns:a16="http://schemas.microsoft.com/office/drawing/2014/main" id="{D2186C02-A674-E045-95BA-160FC98CECFF}"/>
              </a:ext>
            </a:extLst>
          </p:cNvPr>
          <p:cNvSpPr txBox="1"/>
          <p:nvPr/>
        </p:nvSpPr>
        <p:spPr>
          <a:xfrm>
            <a:off x="3460830" y="150944"/>
            <a:ext cx="7315200" cy="810478"/>
          </a:xfrm>
          <a:prstGeom prst="rect">
            <a:avLst/>
          </a:prstGeom>
          <a:noFill/>
        </p:spPr>
        <p:txBody>
          <a:bodyPr wrap="square">
            <a:spAutoFit/>
          </a:bodyPr>
          <a:lstStyle/>
          <a:p>
            <a:pPr marL="0" indent="0" algn="ctr">
              <a:lnSpc>
                <a:spcPts val="5600"/>
              </a:lnSpc>
              <a:buNone/>
            </a:pPr>
            <a:r>
              <a:rPr lang="en-US" sz="4800" b="1" dirty="0">
                <a:solidFill>
                  <a:srgbClr val="7030A0"/>
                </a:solidFill>
                <a:latin typeface="Barlow Bold" pitchFamily="34" charset="0"/>
                <a:ea typeface="Barlow Bold" pitchFamily="34" charset="-122"/>
                <a:cs typeface="Barlow Bold" pitchFamily="34" charset="-120"/>
              </a:rPr>
              <a:t>Plan:</a:t>
            </a:r>
            <a:endParaRPr lang="en-US" sz="4800" dirty="0">
              <a:solidFill>
                <a:srgbClr val="7030A0"/>
              </a:solidFill>
            </a:endParaRPr>
          </a:p>
        </p:txBody>
      </p:sp>
      <p:sp>
        <p:nvSpPr>
          <p:cNvPr id="6" name="ZoneTexte 5">
            <a:extLst>
              <a:ext uri="{FF2B5EF4-FFF2-40B4-BE49-F238E27FC236}">
                <a16:creationId xmlns:a16="http://schemas.microsoft.com/office/drawing/2014/main" id="{090BC54E-6C53-49FB-5DE5-8DC69304B842}"/>
              </a:ext>
            </a:extLst>
          </p:cNvPr>
          <p:cNvSpPr txBox="1"/>
          <p:nvPr/>
        </p:nvSpPr>
        <p:spPr>
          <a:xfrm>
            <a:off x="14201904" y="7662969"/>
            <a:ext cx="393056" cy="584775"/>
          </a:xfrm>
          <a:prstGeom prst="rect">
            <a:avLst/>
          </a:prstGeom>
          <a:noFill/>
        </p:spPr>
        <p:txBody>
          <a:bodyPr wrap="none" rtlCol="0">
            <a:spAutoFit/>
          </a:bodyPr>
          <a:lstStyle/>
          <a:p>
            <a:r>
              <a:rPr lang="fr-FR" sz="3200" dirty="0"/>
              <a:t>3</a:t>
            </a:r>
          </a:p>
        </p:txBody>
      </p:sp>
    </p:spTree>
    <p:extLst>
      <p:ext uri="{BB962C8B-B14F-4D97-AF65-F5344CB8AC3E}">
        <p14:creationId xmlns:p14="http://schemas.microsoft.com/office/powerpoint/2010/main" val="2193722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ext 0"/>
          <p:cNvSpPr/>
          <p:nvPr/>
        </p:nvSpPr>
        <p:spPr>
          <a:xfrm>
            <a:off x="611743" y="200562"/>
            <a:ext cx="4599742" cy="574834"/>
          </a:xfrm>
          <a:prstGeom prst="rect">
            <a:avLst/>
          </a:prstGeom>
          <a:noFill/>
          <a:ln/>
        </p:spPr>
        <p:txBody>
          <a:bodyPr wrap="none" lIns="0" tIns="0" rIns="0" bIns="0" rtlCol="0" anchor="t"/>
          <a:lstStyle/>
          <a:p>
            <a:pPr marL="0" indent="0" algn="l">
              <a:lnSpc>
                <a:spcPts val="4500"/>
              </a:lnSpc>
              <a:buNone/>
            </a:pPr>
            <a:r>
              <a:rPr lang="en-US" sz="3600" b="1" dirty="0">
                <a:solidFill>
                  <a:srgbClr val="7030A0"/>
                </a:solidFill>
                <a:latin typeface="Barlow Bold" pitchFamily="34" charset="0"/>
                <a:ea typeface="Barlow Bold" pitchFamily="34" charset="-122"/>
                <a:cs typeface="Barlow Bold" pitchFamily="34" charset="-120"/>
              </a:rPr>
              <a:t>1-Le Carnet du Produits:</a:t>
            </a:r>
            <a:endParaRPr lang="en-US" sz="3600" dirty="0">
              <a:solidFill>
                <a:srgbClr val="7030A0"/>
              </a:solidFill>
            </a:endParaRPr>
          </a:p>
        </p:txBody>
      </p:sp>
      <p:sp>
        <p:nvSpPr>
          <p:cNvPr id="9" name="Text 7"/>
          <p:cNvSpPr/>
          <p:nvPr/>
        </p:nvSpPr>
        <p:spPr>
          <a:xfrm>
            <a:off x="5313759" y="3289578"/>
            <a:ext cx="4002881" cy="279559"/>
          </a:xfrm>
          <a:prstGeom prst="rect">
            <a:avLst/>
          </a:prstGeom>
          <a:noFill/>
          <a:ln/>
        </p:spPr>
        <p:txBody>
          <a:bodyPr wrap="none" lIns="0" tIns="0" rIns="0" bIns="0" rtlCol="0" anchor="t"/>
          <a:lstStyle/>
          <a:p>
            <a:pPr marL="0" indent="0" algn="l">
              <a:lnSpc>
                <a:spcPts val="2200"/>
              </a:lnSpc>
              <a:buNone/>
            </a:pPr>
            <a:endParaRPr lang="en-US" sz="1350" dirty="0"/>
          </a:p>
        </p:txBody>
      </p:sp>
      <p:sp>
        <p:nvSpPr>
          <p:cNvPr id="11" name="Text 9"/>
          <p:cNvSpPr/>
          <p:nvPr/>
        </p:nvSpPr>
        <p:spPr>
          <a:xfrm>
            <a:off x="9840992" y="1658660"/>
            <a:ext cx="4002881" cy="575072"/>
          </a:xfrm>
          <a:prstGeom prst="rect">
            <a:avLst/>
          </a:prstGeom>
          <a:noFill/>
          <a:ln/>
        </p:spPr>
        <p:txBody>
          <a:bodyPr wrap="square" lIns="0" tIns="0" rIns="0" bIns="0" rtlCol="0" anchor="t"/>
          <a:lstStyle/>
          <a:p>
            <a:pPr marL="0" indent="0" algn="l">
              <a:lnSpc>
                <a:spcPts val="2250"/>
              </a:lnSpc>
              <a:buNone/>
            </a:pPr>
            <a:endParaRPr lang="en-US" sz="1800" dirty="0"/>
          </a:p>
        </p:txBody>
      </p:sp>
      <p:sp>
        <p:nvSpPr>
          <p:cNvPr id="16" name="Text 14"/>
          <p:cNvSpPr/>
          <p:nvPr/>
        </p:nvSpPr>
        <p:spPr>
          <a:xfrm>
            <a:off x="786527" y="5444847"/>
            <a:ext cx="4002881" cy="279559"/>
          </a:xfrm>
          <a:prstGeom prst="rect">
            <a:avLst/>
          </a:prstGeom>
          <a:noFill/>
          <a:ln/>
        </p:spPr>
        <p:txBody>
          <a:bodyPr wrap="none" lIns="0" tIns="0" rIns="0" bIns="0" rtlCol="0" anchor="t"/>
          <a:lstStyle/>
          <a:p>
            <a:pPr marL="0" indent="0" algn="l">
              <a:lnSpc>
                <a:spcPts val="2200"/>
              </a:lnSpc>
              <a:buNone/>
            </a:pPr>
            <a:endParaRPr lang="en-US" sz="1350" dirty="0"/>
          </a:p>
        </p:txBody>
      </p:sp>
      <p:sp>
        <p:nvSpPr>
          <p:cNvPr id="18" name="Text 16"/>
          <p:cNvSpPr/>
          <p:nvPr/>
        </p:nvSpPr>
        <p:spPr>
          <a:xfrm>
            <a:off x="5313759" y="4093488"/>
            <a:ext cx="4002881" cy="862608"/>
          </a:xfrm>
          <a:prstGeom prst="rect">
            <a:avLst/>
          </a:prstGeom>
          <a:noFill/>
          <a:ln/>
        </p:spPr>
        <p:txBody>
          <a:bodyPr wrap="square" lIns="0" tIns="0" rIns="0" bIns="0" rtlCol="0" anchor="t"/>
          <a:lstStyle/>
          <a:p>
            <a:pPr marL="0" indent="0" algn="l">
              <a:lnSpc>
                <a:spcPts val="2250"/>
              </a:lnSpc>
              <a:buNone/>
            </a:pPr>
            <a:endParaRPr lang="en-US" sz="1800" dirty="0"/>
          </a:p>
        </p:txBody>
      </p:sp>
      <p:sp>
        <p:nvSpPr>
          <p:cNvPr id="19" name="Text 17"/>
          <p:cNvSpPr/>
          <p:nvPr/>
        </p:nvSpPr>
        <p:spPr>
          <a:xfrm>
            <a:off x="5313759" y="5060871"/>
            <a:ext cx="4002881" cy="566738"/>
          </a:xfrm>
          <a:prstGeom prst="rect">
            <a:avLst/>
          </a:prstGeom>
          <a:noFill/>
          <a:ln/>
        </p:spPr>
        <p:txBody>
          <a:bodyPr wrap="square" lIns="0" tIns="0" rIns="0" bIns="0" rtlCol="0" anchor="t"/>
          <a:lstStyle/>
          <a:p>
            <a:pPr marL="0" indent="0" algn="l">
              <a:lnSpc>
                <a:spcPts val="2200"/>
              </a:lnSpc>
              <a:buNone/>
            </a:pPr>
            <a:endParaRPr lang="en-US" sz="1350" dirty="0"/>
          </a:p>
        </p:txBody>
      </p:sp>
      <p:sp>
        <p:nvSpPr>
          <p:cNvPr id="21" name="Text 19"/>
          <p:cNvSpPr/>
          <p:nvPr/>
        </p:nvSpPr>
        <p:spPr>
          <a:xfrm>
            <a:off x="9840992" y="4093488"/>
            <a:ext cx="4002881" cy="575072"/>
          </a:xfrm>
          <a:prstGeom prst="rect">
            <a:avLst/>
          </a:prstGeom>
          <a:noFill/>
          <a:ln/>
        </p:spPr>
        <p:txBody>
          <a:bodyPr wrap="square" lIns="0" tIns="0" rIns="0" bIns="0" rtlCol="0" anchor="t"/>
          <a:lstStyle/>
          <a:p>
            <a:pPr marL="0" indent="0" algn="l">
              <a:lnSpc>
                <a:spcPts val="2250"/>
              </a:lnSpc>
              <a:buNone/>
            </a:pPr>
            <a:endParaRPr lang="en-US" sz="1800" dirty="0"/>
          </a:p>
        </p:txBody>
      </p:sp>
      <p:sp>
        <p:nvSpPr>
          <p:cNvPr id="24" name="Text 22"/>
          <p:cNvSpPr/>
          <p:nvPr/>
        </p:nvSpPr>
        <p:spPr>
          <a:xfrm>
            <a:off x="786527" y="6248757"/>
            <a:ext cx="4845129" cy="287536"/>
          </a:xfrm>
          <a:prstGeom prst="rect">
            <a:avLst/>
          </a:prstGeom>
          <a:noFill/>
          <a:ln/>
        </p:spPr>
        <p:txBody>
          <a:bodyPr wrap="none" lIns="0" tIns="0" rIns="0" bIns="0" rtlCol="0" anchor="t"/>
          <a:lstStyle/>
          <a:p>
            <a:pPr marL="0" indent="0" algn="l">
              <a:lnSpc>
                <a:spcPts val="2250"/>
              </a:lnSpc>
              <a:buNone/>
            </a:pPr>
            <a:endParaRPr lang="en-US" sz="1800" dirty="0"/>
          </a:p>
        </p:txBody>
      </p:sp>
      <p:sp>
        <p:nvSpPr>
          <p:cNvPr id="25" name="Text 23"/>
          <p:cNvSpPr/>
          <p:nvPr/>
        </p:nvSpPr>
        <p:spPr>
          <a:xfrm>
            <a:off x="786527" y="6641068"/>
            <a:ext cx="6266498" cy="566738"/>
          </a:xfrm>
          <a:prstGeom prst="rect">
            <a:avLst/>
          </a:prstGeom>
          <a:noFill/>
          <a:ln/>
        </p:spPr>
        <p:txBody>
          <a:bodyPr wrap="square" lIns="0" tIns="0" rIns="0" bIns="0" rtlCol="0" anchor="t"/>
          <a:lstStyle/>
          <a:p>
            <a:pPr marL="0" indent="0" algn="l">
              <a:lnSpc>
                <a:spcPts val="2200"/>
              </a:lnSpc>
              <a:buNone/>
            </a:pPr>
            <a:r>
              <a:rPr lang="en-US" sz="1350" dirty="0">
                <a:solidFill>
                  <a:srgbClr val="272525"/>
                </a:solidFill>
                <a:latin typeface="Montserrat" pitchFamily="34" charset="0"/>
                <a:ea typeface="Montserrat" pitchFamily="34" charset="-122"/>
                <a:cs typeface="Montserrat" pitchFamily="34" charset="-120"/>
              </a:rPr>
              <a:t>.</a:t>
            </a:r>
            <a:endParaRPr lang="en-US" sz="1350" dirty="0"/>
          </a:p>
        </p:txBody>
      </p:sp>
      <p:sp>
        <p:nvSpPr>
          <p:cNvPr id="27" name="Text 25"/>
          <p:cNvSpPr/>
          <p:nvPr/>
        </p:nvSpPr>
        <p:spPr>
          <a:xfrm>
            <a:off x="7577376" y="6248757"/>
            <a:ext cx="6266498" cy="575072"/>
          </a:xfrm>
          <a:prstGeom prst="rect">
            <a:avLst/>
          </a:prstGeom>
          <a:noFill/>
          <a:ln/>
        </p:spPr>
        <p:txBody>
          <a:bodyPr wrap="square" lIns="0" tIns="0" rIns="0" bIns="0" rtlCol="0" anchor="t"/>
          <a:lstStyle/>
          <a:p>
            <a:pPr marL="0" indent="0" algn="l">
              <a:lnSpc>
                <a:spcPts val="2250"/>
              </a:lnSpc>
              <a:buNone/>
            </a:pPr>
            <a:endParaRPr lang="en-US" sz="1800" dirty="0"/>
          </a:p>
        </p:txBody>
      </p:sp>
      <p:sp>
        <p:nvSpPr>
          <p:cNvPr id="28" name="Text 26"/>
          <p:cNvSpPr/>
          <p:nvPr/>
        </p:nvSpPr>
        <p:spPr>
          <a:xfrm>
            <a:off x="7577376" y="6928604"/>
            <a:ext cx="6266498" cy="566738"/>
          </a:xfrm>
          <a:prstGeom prst="rect">
            <a:avLst/>
          </a:prstGeom>
          <a:noFill/>
          <a:ln/>
        </p:spPr>
        <p:txBody>
          <a:bodyPr wrap="square" lIns="0" tIns="0" rIns="0" bIns="0" rtlCol="0" anchor="t"/>
          <a:lstStyle/>
          <a:p>
            <a:pPr marL="0" indent="0" algn="l">
              <a:lnSpc>
                <a:spcPts val="2200"/>
              </a:lnSpc>
              <a:buNone/>
            </a:pPr>
            <a:endParaRPr lang="en-US" sz="1350" dirty="0"/>
          </a:p>
        </p:txBody>
      </p:sp>
      <p:graphicFrame>
        <p:nvGraphicFramePr>
          <p:cNvPr id="29" name="Table 2">
            <a:extLst>
              <a:ext uri="{FF2B5EF4-FFF2-40B4-BE49-F238E27FC236}">
                <a16:creationId xmlns:a16="http://schemas.microsoft.com/office/drawing/2014/main" id="{7A9C7FA1-D724-487B-A2BC-9C3A0F29CBDA}"/>
              </a:ext>
            </a:extLst>
          </p:cNvPr>
          <p:cNvGraphicFramePr>
            <a:graphicFrameLocks noGrp="1"/>
          </p:cNvGraphicFramePr>
          <p:nvPr>
            <p:extLst>
              <p:ext uri="{D42A27DB-BD31-4B8C-83A1-F6EECF244321}">
                <p14:modId xmlns:p14="http://schemas.microsoft.com/office/powerpoint/2010/main" val="2017569653"/>
              </p:ext>
            </p:extLst>
          </p:nvPr>
        </p:nvGraphicFramePr>
        <p:xfrm>
          <a:off x="0" y="1421961"/>
          <a:ext cx="14630400" cy="5650770"/>
        </p:xfrm>
        <a:graphic>
          <a:graphicData uri="http://schemas.openxmlformats.org/drawingml/2006/table">
            <a:tbl>
              <a:tblPr firstRow="1" bandRow="1">
                <a:tableStyleId>{5C22544A-7EE6-4342-B048-85BDC9FD1C3A}</a:tableStyleId>
              </a:tblPr>
              <a:tblGrid>
                <a:gridCol w="1331089">
                  <a:extLst>
                    <a:ext uri="{9D8B030D-6E8A-4147-A177-3AD203B41FA5}">
                      <a16:colId xmlns:a16="http://schemas.microsoft.com/office/drawing/2014/main" val="20000"/>
                    </a:ext>
                  </a:extLst>
                </a:gridCol>
                <a:gridCol w="4447279">
                  <a:extLst>
                    <a:ext uri="{9D8B030D-6E8A-4147-A177-3AD203B41FA5}">
                      <a16:colId xmlns:a16="http://schemas.microsoft.com/office/drawing/2014/main" val="20001"/>
                    </a:ext>
                  </a:extLst>
                </a:gridCol>
                <a:gridCol w="1664154">
                  <a:extLst>
                    <a:ext uri="{9D8B030D-6E8A-4147-A177-3AD203B41FA5}">
                      <a16:colId xmlns:a16="http://schemas.microsoft.com/office/drawing/2014/main" val="20002"/>
                    </a:ext>
                  </a:extLst>
                </a:gridCol>
                <a:gridCol w="5208607">
                  <a:extLst>
                    <a:ext uri="{9D8B030D-6E8A-4147-A177-3AD203B41FA5}">
                      <a16:colId xmlns:a16="http://schemas.microsoft.com/office/drawing/2014/main" val="20003"/>
                    </a:ext>
                  </a:extLst>
                </a:gridCol>
                <a:gridCol w="1979271">
                  <a:extLst>
                    <a:ext uri="{9D8B030D-6E8A-4147-A177-3AD203B41FA5}">
                      <a16:colId xmlns:a16="http://schemas.microsoft.com/office/drawing/2014/main" val="1906088883"/>
                    </a:ext>
                  </a:extLst>
                </a:gridCol>
              </a:tblGrid>
              <a:tr h="719955">
                <a:tc>
                  <a:txBody>
                    <a:bodyPr/>
                    <a:lstStyle/>
                    <a:p>
                      <a:r>
                        <a:rPr dirty="0"/>
                        <a:t>ID</a:t>
                      </a:r>
                    </a:p>
                  </a:txBody>
                  <a:tcPr/>
                </a:tc>
                <a:tc>
                  <a:txBody>
                    <a:bodyPr/>
                    <a:lstStyle/>
                    <a:p>
                      <a:r>
                        <a:rPr dirty="0"/>
                        <a:t>User Story</a:t>
                      </a:r>
                    </a:p>
                  </a:txBody>
                  <a:tcPr/>
                </a:tc>
                <a:tc>
                  <a:txBody>
                    <a:bodyPr/>
                    <a:lstStyle/>
                    <a:p>
                      <a:r>
                        <a:t>Priorité</a:t>
                      </a:r>
                    </a:p>
                  </a:txBody>
                  <a:tcPr/>
                </a:tc>
                <a:tc>
                  <a:txBody>
                    <a:bodyPr/>
                    <a:lstStyle/>
                    <a:p>
                      <a:r>
                        <a:rPr dirty="0" err="1"/>
                        <a:t>Critères</a:t>
                      </a:r>
                      <a:r>
                        <a:rPr dirty="0"/>
                        <a:t> </a:t>
                      </a:r>
                      <a:r>
                        <a:rPr dirty="0" err="1"/>
                        <a:t>d’acceptation</a:t>
                      </a:r>
                      <a:endParaRPr dirty="0"/>
                    </a:p>
                  </a:txBody>
                  <a:tcPr/>
                </a:tc>
                <a:tc>
                  <a:txBody>
                    <a:bodyPr/>
                    <a:lstStyle/>
                    <a:p>
                      <a:r>
                        <a:rPr lang="fr-FR" dirty="0"/>
                        <a:t>période</a:t>
                      </a:r>
                      <a:endParaRPr dirty="0"/>
                    </a:p>
                  </a:txBody>
                  <a:tcPr/>
                </a:tc>
                <a:extLst>
                  <a:ext uri="{0D108BD9-81ED-4DB2-BD59-A6C34878D82A}">
                    <a16:rowId xmlns:a16="http://schemas.microsoft.com/office/drawing/2014/main" val="10000"/>
                  </a:ext>
                </a:extLst>
              </a:tr>
              <a:tr h="1782319">
                <a:tc>
                  <a:txBody>
                    <a:bodyPr/>
                    <a:lstStyle/>
                    <a:p>
                      <a:r>
                        <a:rPr sz="2800" dirty="0"/>
                        <a:t>US</a:t>
                      </a:r>
                      <a:r>
                        <a:rPr lang="fr-FR" sz="2800" dirty="0"/>
                        <a:t>ER </a:t>
                      </a:r>
                      <a:r>
                        <a:rPr sz="2800" dirty="0"/>
                        <a:t>1</a:t>
                      </a:r>
                    </a:p>
                  </a:txBody>
                  <a:tcPr/>
                </a:tc>
                <a:tc>
                  <a:txBody>
                    <a:bodyPr/>
                    <a:lstStyle/>
                    <a:p>
                      <a:r>
                        <a:rPr sz="2800" dirty="0"/>
                        <a:t>En tant que patient, je </a:t>
                      </a:r>
                      <a:r>
                        <a:rPr sz="2800" dirty="0" err="1"/>
                        <a:t>veux</a:t>
                      </a:r>
                      <a:r>
                        <a:rPr sz="2800" dirty="0"/>
                        <a:t> que le bracelet </a:t>
                      </a:r>
                      <a:r>
                        <a:rPr sz="2800" dirty="0" err="1"/>
                        <a:t>mesure</a:t>
                      </a:r>
                      <a:r>
                        <a:rPr sz="2800" dirty="0"/>
                        <a:t> ma </a:t>
                      </a:r>
                      <a:r>
                        <a:rPr sz="2800" dirty="0" err="1"/>
                        <a:t>fréquence</a:t>
                      </a:r>
                      <a:r>
                        <a:rPr sz="2800" dirty="0"/>
                        <a:t> </a:t>
                      </a:r>
                      <a:r>
                        <a:rPr sz="2800" dirty="0" err="1"/>
                        <a:t>cardiaque</a:t>
                      </a:r>
                      <a:r>
                        <a:rPr sz="2800" dirty="0"/>
                        <a:t> en temps </a:t>
                      </a:r>
                      <a:r>
                        <a:rPr sz="2800" dirty="0" err="1"/>
                        <a:t>réel</a:t>
                      </a:r>
                      <a:r>
                        <a:rPr sz="2800" dirty="0"/>
                        <a:t>.</a:t>
                      </a:r>
                    </a:p>
                  </a:txBody>
                  <a:tcPr/>
                </a:tc>
                <a:tc>
                  <a:txBody>
                    <a:bodyPr/>
                    <a:lstStyle/>
                    <a:p>
                      <a:r>
                        <a:rPr lang="fr-FR" sz="2800" dirty="0"/>
                        <a:t>1</a:t>
                      </a:r>
                      <a:endParaRPr sz="2800" dirty="0"/>
                    </a:p>
                  </a:txBody>
                  <a:tcPr/>
                </a:tc>
                <a:tc>
                  <a:txBody>
                    <a:bodyPr/>
                    <a:lstStyle/>
                    <a:p>
                      <a:r>
                        <a:rPr sz="2800" dirty="0"/>
                        <a:t>La </a:t>
                      </a:r>
                      <a:r>
                        <a:rPr sz="2800" dirty="0" err="1"/>
                        <a:t>mesure</a:t>
                      </a:r>
                      <a:r>
                        <a:rPr sz="2800" dirty="0"/>
                        <a:t> doit </a:t>
                      </a:r>
                      <a:r>
                        <a:rPr sz="2800" dirty="0" err="1"/>
                        <a:t>être</a:t>
                      </a:r>
                      <a:r>
                        <a:rPr sz="2800" dirty="0"/>
                        <a:t> fiable et </a:t>
                      </a:r>
                      <a:r>
                        <a:rPr sz="2800" dirty="0" err="1"/>
                        <a:t>affichée</a:t>
                      </a:r>
                      <a:r>
                        <a:rPr sz="2800" dirty="0"/>
                        <a:t> sur </a:t>
                      </a:r>
                      <a:r>
                        <a:rPr sz="2800" dirty="0" err="1"/>
                        <a:t>l’application</a:t>
                      </a:r>
                      <a:r>
                        <a:rPr sz="2800" dirty="0"/>
                        <a:t>.</a:t>
                      </a:r>
                    </a:p>
                  </a:txBody>
                  <a:tcPr/>
                </a:tc>
                <a:tc>
                  <a:txBody>
                    <a:bodyPr/>
                    <a:lstStyle/>
                    <a:p>
                      <a:r>
                        <a:rPr lang="fr-FR" sz="2800" dirty="0"/>
                        <a:t>2 semaines</a:t>
                      </a:r>
                      <a:endParaRPr sz="2800" dirty="0"/>
                    </a:p>
                  </a:txBody>
                  <a:tcPr/>
                </a:tc>
                <a:extLst>
                  <a:ext uri="{0D108BD9-81ED-4DB2-BD59-A6C34878D82A}">
                    <a16:rowId xmlns:a16="http://schemas.microsoft.com/office/drawing/2014/main" val="10001"/>
                  </a:ext>
                </a:extLst>
              </a:tr>
              <a:tr h="1243475">
                <a:tc>
                  <a:txBody>
                    <a:bodyPr/>
                    <a:lstStyle/>
                    <a:p>
                      <a:r>
                        <a:rPr sz="2800" dirty="0"/>
                        <a:t>US</a:t>
                      </a:r>
                      <a:r>
                        <a:rPr lang="fr-FR" sz="2800" dirty="0"/>
                        <a:t>ER </a:t>
                      </a:r>
                      <a:r>
                        <a:rPr sz="2800" dirty="0"/>
                        <a:t>2</a:t>
                      </a:r>
                    </a:p>
                  </a:txBody>
                  <a:tcPr/>
                </a:tc>
                <a:tc>
                  <a:txBody>
                    <a:bodyPr/>
                    <a:lstStyle/>
                    <a:p>
                      <a:r>
                        <a:rPr sz="2800" dirty="0"/>
                        <a:t>En tant que patient, je </a:t>
                      </a:r>
                      <a:r>
                        <a:rPr sz="2800" dirty="0" err="1"/>
                        <a:t>veux</a:t>
                      </a:r>
                      <a:r>
                        <a:rPr sz="2800" dirty="0"/>
                        <a:t> que le bracelet </a:t>
                      </a:r>
                      <a:r>
                        <a:rPr sz="2800" dirty="0" err="1"/>
                        <a:t>mesure</a:t>
                      </a:r>
                      <a:r>
                        <a:rPr sz="2800" dirty="0"/>
                        <a:t> ma </a:t>
                      </a:r>
                      <a:r>
                        <a:rPr sz="2800" dirty="0" err="1"/>
                        <a:t>température</a:t>
                      </a:r>
                      <a:r>
                        <a:rPr sz="2800" dirty="0"/>
                        <a:t> </a:t>
                      </a:r>
                      <a:r>
                        <a:rPr sz="2800" dirty="0" err="1"/>
                        <a:t>corporelle</a:t>
                      </a:r>
                      <a:r>
                        <a:rPr sz="2800" dirty="0"/>
                        <a:t>.</a:t>
                      </a:r>
                    </a:p>
                  </a:txBody>
                  <a:tcPr/>
                </a:tc>
                <a:tc>
                  <a:txBody>
                    <a:bodyPr/>
                    <a:lstStyle/>
                    <a:p>
                      <a:r>
                        <a:rPr lang="fr-FR" sz="2800" dirty="0"/>
                        <a:t>2</a:t>
                      </a:r>
                      <a:endParaRPr sz="2800" dirty="0"/>
                    </a:p>
                  </a:txBody>
                  <a:tcPr/>
                </a:tc>
                <a:tc>
                  <a:txBody>
                    <a:bodyPr/>
                    <a:lstStyle/>
                    <a:p>
                      <a:r>
                        <a:rPr sz="2800" dirty="0"/>
                        <a:t>La </a:t>
                      </a:r>
                      <a:r>
                        <a:rPr sz="2800" dirty="0" err="1"/>
                        <a:t>température</a:t>
                      </a:r>
                      <a:r>
                        <a:rPr sz="2800" dirty="0"/>
                        <a:t> doit </a:t>
                      </a:r>
                      <a:r>
                        <a:rPr sz="2800" dirty="0" err="1"/>
                        <a:t>être</a:t>
                      </a:r>
                      <a:r>
                        <a:rPr sz="2800" dirty="0"/>
                        <a:t> </a:t>
                      </a:r>
                      <a:r>
                        <a:rPr sz="2800" dirty="0" err="1"/>
                        <a:t>mesurée</a:t>
                      </a:r>
                      <a:r>
                        <a:rPr sz="2800" dirty="0"/>
                        <a:t> </a:t>
                      </a:r>
                      <a:r>
                        <a:rPr sz="2800" dirty="0" err="1"/>
                        <a:t>toutes</a:t>
                      </a:r>
                      <a:r>
                        <a:rPr sz="2800" dirty="0"/>
                        <a:t> les X minutes.</a:t>
                      </a:r>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fr-FR" sz="2800" dirty="0"/>
                        <a:t>2 semaines</a:t>
                      </a:r>
                    </a:p>
                    <a:p>
                      <a:endParaRPr sz="2800" dirty="0"/>
                    </a:p>
                  </a:txBody>
                  <a:tcPr/>
                </a:tc>
                <a:extLst>
                  <a:ext uri="{0D108BD9-81ED-4DB2-BD59-A6C34878D82A}">
                    <a16:rowId xmlns:a16="http://schemas.microsoft.com/office/drawing/2014/main" val="10002"/>
                  </a:ext>
                </a:extLst>
              </a:tr>
              <a:tr h="1760895">
                <a:tc>
                  <a:txBody>
                    <a:bodyPr/>
                    <a:lstStyle/>
                    <a:p>
                      <a:r>
                        <a:rPr sz="2800" dirty="0"/>
                        <a:t>US</a:t>
                      </a:r>
                      <a:r>
                        <a:rPr lang="fr-FR" sz="2800" dirty="0"/>
                        <a:t>ER </a:t>
                      </a:r>
                      <a:r>
                        <a:rPr sz="2800" dirty="0"/>
                        <a:t>3</a:t>
                      </a:r>
                    </a:p>
                  </a:txBody>
                  <a:tcPr/>
                </a:tc>
                <a:tc>
                  <a:txBody>
                    <a:bodyPr/>
                    <a:lstStyle/>
                    <a:p>
                      <a:r>
                        <a:rPr sz="2800" dirty="0"/>
                        <a:t>En tant que </a:t>
                      </a:r>
                      <a:r>
                        <a:rPr sz="2800" dirty="0" err="1"/>
                        <a:t>médecin</a:t>
                      </a:r>
                      <a:r>
                        <a:rPr sz="2800" dirty="0"/>
                        <a:t>, je </a:t>
                      </a:r>
                      <a:r>
                        <a:rPr sz="2800" dirty="0" err="1"/>
                        <a:t>veux</a:t>
                      </a:r>
                      <a:r>
                        <a:rPr sz="2800" dirty="0"/>
                        <a:t> </a:t>
                      </a:r>
                      <a:r>
                        <a:rPr sz="2800" dirty="0" err="1"/>
                        <a:t>pouvoir</a:t>
                      </a:r>
                      <a:r>
                        <a:rPr sz="2800" dirty="0"/>
                        <a:t> </a:t>
                      </a:r>
                      <a:r>
                        <a:rPr sz="2800" dirty="0" err="1"/>
                        <a:t>voir</a:t>
                      </a:r>
                      <a:r>
                        <a:rPr sz="2800" dirty="0"/>
                        <a:t> </a:t>
                      </a:r>
                      <a:r>
                        <a:rPr sz="2800" dirty="0" err="1"/>
                        <a:t>l’historique</a:t>
                      </a:r>
                      <a:r>
                        <a:rPr sz="2800" dirty="0"/>
                        <a:t> des </a:t>
                      </a:r>
                      <a:r>
                        <a:rPr sz="2800" dirty="0" err="1"/>
                        <a:t>constantes</a:t>
                      </a:r>
                      <a:r>
                        <a:rPr sz="2800" dirty="0"/>
                        <a:t> </a:t>
                      </a:r>
                      <a:r>
                        <a:rPr sz="2800" dirty="0" err="1"/>
                        <a:t>vitales</a:t>
                      </a:r>
                      <a:r>
                        <a:rPr sz="2800" dirty="0"/>
                        <a:t>.</a:t>
                      </a:r>
                    </a:p>
                  </a:txBody>
                  <a:tcPr/>
                </a:tc>
                <a:tc>
                  <a:txBody>
                    <a:bodyPr/>
                    <a:lstStyle/>
                    <a:p>
                      <a:r>
                        <a:rPr lang="fr-FR" sz="2800" dirty="0"/>
                        <a:t>2</a:t>
                      </a:r>
                      <a:endParaRPr sz="2800" dirty="0"/>
                    </a:p>
                  </a:txBody>
                  <a:tcPr/>
                </a:tc>
                <a:tc>
                  <a:txBody>
                    <a:bodyPr/>
                    <a:lstStyle/>
                    <a:p>
                      <a:r>
                        <a:rPr sz="2800" dirty="0" err="1"/>
                        <a:t>L’application</a:t>
                      </a:r>
                      <a:r>
                        <a:rPr sz="2800" dirty="0"/>
                        <a:t> doit stocker les données sur une </a:t>
                      </a:r>
                      <a:r>
                        <a:rPr sz="2800" dirty="0" err="1"/>
                        <a:t>période</a:t>
                      </a:r>
                      <a:r>
                        <a:rPr sz="2800" dirty="0"/>
                        <a:t> donnée.</a:t>
                      </a:r>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fr-FR" sz="2800" dirty="0"/>
                        <a:t>2 semaines</a:t>
                      </a:r>
                    </a:p>
                    <a:p>
                      <a:endParaRPr sz="2800" dirty="0"/>
                    </a:p>
                  </a:txBody>
                  <a:tcPr/>
                </a:tc>
                <a:extLst>
                  <a:ext uri="{0D108BD9-81ED-4DB2-BD59-A6C34878D82A}">
                    <a16:rowId xmlns:a16="http://schemas.microsoft.com/office/drawing/2014/main" val="10003"/>
                  </a:ext>
                </a:extLst>
              </a:tr>
            </a:tbl>
          </a:graphicData>
        </a:graphic>
      </p:graphicFrame>
      <p:sp>
        <p:nvSpPr>
          <p:cNvPr id="32" name="ZoneTexte 31">
            <a:extLst>
              <a:ext uri="{FF2B5EF4-FFF2-40B4-BE49-F238E27FC236}">
                <a16:creationId xmlns:a16="http://schemas.microsoft.com/office/drawing/2014/main" id="{4478CCE4-C195-AC93-ED65-C816DCF128F5}"/>
              </a:ext>
            </a:extLst>
          </p:cNvPr>
          <p:cNvSpPr txBox="1"/>
          <p:nvPr/>
        </p:nvSpPr>
        <p:spPr>
          <a:xfrm>
            <a:off x="381965" y="824360"/>
            <a:ext cx="7322820" cy="584775"/>
          </a:xfrm>
          <a:prstGeom prst="rect">
            <a:avLst/>
          </a:prstGeom>
          <a:noFill/>
        </p:spPr>
        <p:txBody>
          <a:bodyPr wrap="square">
            <a:spAutoFit/>
          </a:bodyPr>
          <a:lstStyle/>
          <a:p>
            <a:r>
              <a:rPr lang="fr-FR" sz="2800" dirty="0"/>
              <a:t>📖 </a:t>
            </a:r>
            <a:r>
              <a:rPr lang="fr-FR" sz="3200" dirty="0"/>
              <a:t>Suivi des constantes vitales:</a:t>
            </a:r>
          </a:p>
        </p:txBody>
      </p:sp>
      <p:sp>
        <p:nvSpPr>
          <p:cNvPr id="34" name="ZoneTexte 33">
            <a:extLst>
              <a:ext uri="{FF2B5EF4-FFF2-40B4-BE49-F238E27FC236}">
                <a16:creationId xmlns:a16="http://schemas.microsoft.com/office/drawing/2014/main" id="{A97477F3-A3EE-D8B4-3850-DBAF76164E75}"/>
              </a:ext>
            </a:extLst>
          </p:cNvPr>
          <p:cNvSpPr txBox="1"/>
          <p:nvPr/>
        </p:nvSpPr>
        <p:spPr>
          <a:xfrm>
            <a:off x="12906325" y="7690665"/>
            <a:ext cx="1630680" cy="584775"/>
          </a:xfrm>
          <a:prstGeom prst="rect">
            <a:avLst/>
          </a:prstGeom>
          <a:noFill/>
        </p:spPr>
        <p:txBody>
          <a:bodyPr wrap="square" rtlCol="0">
            <a:spAutoFit/>
          </a:bodyPr>
          <a:lstStyle/>
          <a:p>
            <a:pPr algn="r"/>
            <a:r>
              <a:rPr lang="fr-FR" sz="3200"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ext 0"/>
          <p:cNvSpPr/>
          <p:nvPr/>
        </p:nvSpPr>
        <p:spPr>
          <a:xfrm>
            <a:off x="203060" y="98980"/>
            <a:ext cx="5396746" cy="674608"/>
          </a:xfrm>
          <a:prstGeom prst="rect">
            <a:avLst/>
          </a:prstGeom>
          <a:noFill/>
          <a:ln/>
        </p:spPr>
        <p:txBody>
          <a:bodyPr wrap="none" lIns="0" tIns="0" rIns="0" bIns="0" rtlCol="0" anchor="t"/>
          <a:lstStyle/>
          <a:p>
            <a:pPr marL="0" indent="0" algn="l">
              <a:lnSpc>
                <a:spcPts val="5300"/>
              </a:lnSpc>
              <a:buNone/>
            </a:pPr>
            <a:r>
              <a:rPr lang="fr-FR" sz="2800" dirty="0"/>
              <a:t>📡 </a:t>
            </a:r>
            <a:r>
              <a:rPr lang="fr-FR" sz="3200" dirty="0"/>
              <a:t>Connectivité &amp; Communication:</a:t>
            </a:r>
            <a:endParaRPr lang="en-US" sz="3200" dirty="0"/>
          </a:p>
        </p:txBody>
      </p:sp>
      <p:sp>
        <p:nvSpPr>
          <p:cNvPr id="4" name="Text 2"/>
          <p:cNvSpPr/>
          <p:nvPr/>
        </p:nvSpPr>
        <p:spPr>
          <a:xfrm>
            <a:off x="922734" y="2023705"/>
            <a:ext cx="3851553" cy="674370"/>
          </a:xfrm>
          <a:prstGeom prst="rect">
            <a:avLst/>
          </a:prstGeom>
          <a:noFill/>
          <a:ln/>
        </p:spPr>
        <p:txBody>
          <a:bodyPr wrap="square" lIns="0" tIns="0" rIns="0" bIns="0" rtlCol="0" anchor="t"/>
          <a:lstStyle/>
          <a:p>
            <a:pPr marL="0" indent="0" algn="l">
              <a:lnSpc>
                <a:spcPts val="2650"/>
              </a:lnSpc>
              <a:buNone/>
            </a:pPr>
            <a:endParaRPr lang="en-US" sz="2100" dirty="0"/>
          </a:p>
        </p:txBody>
      </p:sp>
      <p:sp>
        <p:nvSpPr>
          <p:cNvPr id="5" name="Text 3"/>
          <p:cNvSpPr/>
          <p:nvPr/>
        </p:nvSpPr>
        <p:spPr>
          <a:xfrm>
            <a:off x="922734" y="2821067"/>
            <a:ext cx="3851553" cy="991672"/>
          </a:xfrm>
          <a:prstGeom prst="rect">
            <a:avLst/>
          </a:prstGeom>
          <a:noFill/>
          <a:ln/>
        </p:spPr>
        <p:txBody>
          <a:bodyPr wrap="square" lIns="0" tIns="0" rIns="0" bIns="0" rtlCol="0" anchor="t"/>
          <a:lstStyle/>
          <a:p>
            <a:pPr marL="0" indent="0" algn="l">
              <a:lnSpc>
                <a:spcPts val="2550"/>
              </a:lnSpc>
              <a:buNone/>
            </a:pPr>
            <a:endParaRPr lang="en-US" sz="1600" dirty="0"/>
          </a:p>
        </p:txBody>
      </p:sp>
      <p:sp>
        <p:nvSpPr>
          <p:cNvPr id="7" name="Text 5"/>
          <p:cNvSpPr/>
          <p:nvPr/>
        </p:nvSpPr>
        <p:spPr>
          <a:xfrm>
            <a:off x="5389364" y="2023705"/>
            <a:ext cx="3746183" cy="337185"/>
          </a:xfrm>
          <a:prstGeom prst="rect">
            <a:avLst/>
          </a:prstGeom>
          <a:noFill/>
          <a:ln/>
        </p:spPr>
        <p:txBody>
          <a:bodyPr wrap="none" lIns="0" tIns="0" rIns="0" bIns="0" rtlCol="0" anchor="t"/>
          <a:lstStyle/>
          <a:p>
            <a:pPr marL="0" indent="0" algn="l">
              <a:lnSpc>
                <a:spcPts val="2650"/>
              </a:lnSpc>
              <a:buNone/>
            </a:pPr>
            <a:endParaRPr lang="en-US" sz="2100" dirty="0"/>
          </a:p>
        </p:txBody>
      </p:sp>
      <p:sp>
        <p:nvSpPr>
          <p:cNvPr id="8" name="Text 6"/>
          <p:cNvSpPr/>
          <p:nvPr/>
        </p:nvSpPr>
        <p:spPr>
          <a:xfrm>
            <a:off x="5389364" y="2483882"/>
            <a:ext cx="3851553" cy="991672"/>
          </a:xfrm>
          <a:prstGeom prst="rect">
            <a:avLst/>
          </a:prstGeom>
          <a:noFill/>
          <a:ln/>
        </p:spPr>
        <p:txBody>
          <a:bodyPr wrap="square" lIns="0" tIns="0" rIns="0" bIns="0" rtlCol="0" anchor="t"/>
          <a:lstStyle/>
          <a:p>
            <a:pPr marL="0" indent="0" algn="l">
              <a:lnSpc>
                <a:spcPts val="2550"/>
              </a:lnSpc>
              <a:buNone/>
            </a:pPr>
            <a:endParaRPr lang="en-US" sz="1600" dirty="0"/>
          </a:p>
        </p:txBody>
      </p:sp>
      <p:sp>
        <p:nvSpPr>
          <p:cNvPr id="10" name="Text 8"/>
          <p:cNvSpPr/>
          <p:nvPr/>
        </p:nvSpPr>
        <p:spPr>
          <a:xfrm>
            <a:off x="9855994" y="2023705"/>
            <a:ext cx="2698313" cy="337185"/>
          </a:xfrm>
          <a:prstGeom prst="rect">
            <a:avLst/>
          </a:prstGeom>
          <a:noFill/>
          <a:ln/>
        </p:spPr>
        <p:txBody>
          <a:bodyPr wrap="none" lIns="0" tIns="0" rIns="0" bIns="0" rtlCol="0" anchor="t"/>
          <a:lstStyle/>
          <a:p>
            <a:pPr marL="0" indent="0" algn="l">
              <a:lnSpc>
                <a:spcPts val="2650"/>
              </a:lnSpc>
              <a:buNone/>
            </a:pPr>
            <a:endParaRPr lang="en-US" sz="2100" dirty="0"/>
          </a:p>
        </p:txBody>
      </p:sp>
      <p:sp>
        <p:nvSpPr>
          <p:cNvPr id="11" name="Text 9"/>
          <p:cNvSpPr/>
          <p:nvPr/>
        </p:nvSpPr>
        <p:spPr>
          <a:xfrm>
            <a:off x="9855994" y="2483882"/>
            <a:ext cx="3851553" cy="991672"/>
          </a:xfrm>
          <a:prstGeom prst="rect">
            <a:avLst/>
          </a:prstGeom>
          <a:noFill/>
          <a:ln/>
        </p:spPr>
        <p:txBody>
          <a:bodyPr wrap="square" lIns="0" tIns="0" rIns="0" bIns="0" rtlCol="0" anchor="t"/>
          <a:lstStyle/>
          <a:p>
            <a:pPr marL="0" indent="0" algn="l">
              <a:lnSpc>
                <a:spcPts val="2550"/>
              </a:lnSpc>
              <a:buNone/>
            </a:pPr>
            <a:endParaRPr lang="en-US" sz="1600" dirty="0"/>
          </a:p>
        </p:txBody>
      </p:sp>
      <p:sp>
        <p:nvSpPr>
          <p:cNvPr id="17" name="Text 15"/>
          <p:cNvSpPr/>
          <p:nvPr/>
        </p:nvSpPr>
        <p:spPr>
          <a:xfrm>
            <a:off x="5389364" y="4887992"/>
            <a:ext cx="3851553" cy="991672"/>
          </a:xfrm>
          <a:prstGeom prst="rect">
            <a:avLst/>
          </a:prstGeom>
          <a:noFill/>
          <a:ln/>
        </p:spPr>
        <p:txBody>
          <a:bodyPr wrap="square" lIns="0" tIns="0" rIns="0" bIns="0" rtlCol="0" anchor="t"/>
          <a:lstStyle/>
          <a:p>
            <a:pPr marL="0" indent="0" algn="l">
              <a:lnSpc>
                <a:spcPts val="2550"/>
              </a:lnSpc>
              <a:buNone/>
            </a:pPr>
            <a:endParaRPr lang="en-US" sz="1600" dirty="0"/>
          </a:p>
        </p:txBody>
      </p:sp>
      <p:sp>
        <p:nvSpPr>
          <p:cNvPr id="19" name="Text 17"/>
          <p:cNvSpPr/>
          <p:nvPr/>
        </p:nvSpPr>
        <p:spPr>
          <a:xfrm>
            <a:off x="9855994" y="4427815"/>
            <a:ext cx="2698313" cy="337185"/>
          </a:xfrm>
          <a:prstGeom prst="rect">
            <a:avLst/>
          </a:prstGeom>
          <a:noFill/>
          <a:ln/>
        </p:spPr>
        <p:txBody>
          <a:bodyPr wrap="none" lIns="0" tIns="0" rIns="0" bIns="0" rtlCol="0" anchor="t"/>
          <a:lstStyle/>
          <a:p>
            <a:pPr marL="0" indent="0" algn="l">
              <a:lnSpc>
                <a:spcPts val="2650"/>
              </a:lnSpc>
              <a:buNone/>
            </a:pPr>
            <a:endParaRPr lang="en-US" sz="2100" dirty="0"/>
          </a:p>
        </p:txBody>
      </p:sp>
      <p:sp>
        <p:nvSpPr>
          <p:cNvPr id="20" name="Text 18"/>
          <p:cNvSpPr/>
          <p:nvPr/>
        </p:nvSpPr>
        <p:spPr>
          <a:xfrm>
            <a:off x="9855994" y="4887992"/>
            <a:ext cx="3851553" cy="991672"/>
          </a:xfrm>
          <a:prstGeom prst="rect">
            <a:avLst/>
          </a:prstGeom>
          <a:noFill/>
          <a:ln/>
        </p:spPr>
        <p:txBody>
          <a:bodyPr wrap="square" lIns="0" tIns="0" rIns="0" bIns="0" rtlCol="0" anchor="t"/>
          <a:lstStyle/>
          <a:p>
            <a:pPr marL="0" indent="0" algn="l">
              <a:lnSpc>
                <a:spcPts val="2550"/>
              </a:lnSpc>
              <a:buNone/>
            </a:pPr>
            <a:endParaRPr lang="en-US" sz="1600" dirty="0"/>
          </a:p>
        </p:txBody>
      </p:sp>
      <p:sp>
        <p:nvSpPr>
          <p:cNvPr id="24" name="ZoneTexte 23">
            <a:extLst>
              <a:ext uri="{FF2B5EF4-FFF2-40B4-BE49-F238E27FC236}">
                <a16:creationId xmlns:a16="http://schemas.microsoft.com/office/drawing/2014/main" id="{EC2CC345-55E5-B592-4634-E98ECED2F216}"/>
              </a:ext>
            </a:extLst>
          </p:cNvPr>
          <p:cNvSpPr txBox="1"/>
          <p:nvPr/>
        </p:nvSpPr>
        <p:spPr>
          <a:xfrm>
            <a:off x="14039347" y="7774227"/>
            <a:ext cx="393056" cy="584775"/>
          </a:xfrm>
          <a:prstGeom prst="rect">
            <a:avLst/>
          </a:prstGeom>
          <a:noFill/>
        </p:spPr>
        <p:txBody>
          <a:bodyPr wrap="none" rtlCol="0">
            <a:spAutoFit/>
          </a:bodyPr>
          <a:lstStyle/>
          <a:p>
            <a:r>
              <a:rPr lang="fr-FR" sz="3200" dirty="0"/>
              <a:t>5</a:t>
            </a:r>
          </a:p>
        </p:txBody>
      </p:sp>
      <p:graphicFrame>
        <p:nvGraphicFramePr>
          <p:cNvPr id="25" name="Table 2">
            <a:extLst>
              <a:ext uri="{FF2B5EF4-FFF2-40B4-BE49-F238E27FC236}">
                <a16:creationId xmlns:a16="http://schemas.microsoft.com/office/drawing/2014/main" id="{DF653D83-D999-947A-8F1C-8964902A832C}"/>
              </a:ext>
            </a:extLst>
          </p:cNvPr>
          <p:cNvGraphicFramePr>
            <a:graphicFrameLocks noGrp="1"/>
          </p:cNvGraphicFramePr>
          <p:nvPr>
            <p:extLst>
              <p:ext uri="{D42A27DB-BD31-4B8C-83A1-F6EECF244321}">
                <p14:modId xmlns:p14="http://schemas.microsoft.com/office/powerpoint/2010/main" val="907079179"/>
              </p:ext>
            </p:extLst>
          </p:nvPr>
        </p:nvGraphicFramePr>
        <p:xfrm>
          <a:off x="53778" y="740628"/>
          <a:ext cx="14576622" cy="3264213"/>
        </p:xfrm>
        <a:graphic>
          <a:graphicData uri="http://schemas.openxmlformats.org/drawingml/2006/table">
            <a:tbl>
              <a:tblPr firstRow="1" bandRow="1">
                <a:tableStyleId>{5C22544A-7EE6-4342-B048-85BDC9FD1C3A}</a:tableStyleId>
              </a:tblPr>
              <a:tblGrid>
                <a:gridCol w="1377934">
                  <a:extLst>
                    <a:ext uri="{9D8B030D-6E8A-4147-A177-3AD203B41FA5}">
                      <a16:colId xmlns:a16="http://schemas.microsoft.com/office/drawing/2014/main" val="20000"/>
                    </a:ext>
                  </a:extLst>
                </a:gridCol>
                <a:gridCol w="4656572">
                  <a:extLst>
                    <a:ext uri="{9D8B030D-6E8A-4147-A177-3AD203B41FA5}">
                      <a16:colId xmlns:a16="http://schemas.microsoft.com/office/drawing/2014/main" val="20001"/>
                    </a:ext>
                  </a:extLst>
                </a:gridCol>
                <a:gridCol w="1226916">
                  <a:extLst>
                    <a:ext uri="{9D8B030D-6E8A-4147-A177-3AD203B41FA5}">
                      <a16:colId xmlns:a16="http://schemas.microsoft.com/office/drawing/2014/main" val="20002"/>
                    </a:ext>
                  </a:extLst>
                </a:gridCol>
                <a:gridCol w="5845215">
                  <a:extLst>
                    <a:ext uri="{9D8B030D-6E8A-4147-A177-3AD203B41FA5}">
                      <a16:colId xmlns:a16="http://schemas.microsoft.com/office/drawing/2014/main" val="20003"/>
                    </a:ext>
                  </a:extLst>
                </a:gridCol>
                <a:gridCol w="1469985">
                  <a:extLst>
                    <a:ext uri="{9D8B030D-6E8A-4147-A177-3AD203B41FA5}">
                      <a16:colId xmlns:a16="http://schemas.microsoft.com/office/drawing/2014/main" val="748499100"/>
                    </a:ext>
                  </a:extLst>
                </a:gridCol>
              </a:tblGrid>
              <a:tr h="724682">
                <a:tc>
                  <a:txBody>
                    <a:bodyPr/>
                    <a:lstStyle/>
                    <a:p>
                      <a:r>
                        <a:t>ID</a:t>
                      </a:r>
                    </a:p>
                  </a:txBody>
                  <a:tcPr/>
                </a:tc>
                <a:tc>
                  <a:txBody>
                    <a:bodyPr/>
                    <a:lstStyle/>
                    <a:p>
                      <a:r>
                        <a:rPr dirty="0"/>
                        <a:t>User Story</a:t>
                      </a:r>
                    </a:p>
                  </a:txBody>
                  <a:tcPr/>
                </a:tc>
                <a:tc>
                  <a:txBody>
                    <a:bodyPr/>
                    <a:lstStyle/>
                    <a:p>
                      <a:r>
                        <a:t>Priorité</a:t>
                      </a:r>
                    </a:p>
                  </a:txBody>
                  <a:tcPr/>
                </a:tc>
                <a:tc>
                  <a:txBody>
                    <a:bodyPr/>
                    <a:lstStyle/>
                    <a:p>
                      <a:r>
                        <a:rPr dirty="0" err="1"/>
                        <a:t>Critères</a:t>
                      </a:r>
                      <a:r>
                        <a:rPr dirty="0"/>
                        <a:t> </a:t>
                      </a:r>
                      <a:r>
                        <a:rPr dirty="0" err="1"/>
                        <a:t>d’acceptation</a:t>
                      </a:r>
                      <a:endParaRPr dirty="0"/>
                    </a:p>
                  </a:txBody>
                  <a:tcPr/>
                </a:tc>
                <a:tc>
                  <a:txBody>
                    <a:bodyPr/>
                    <a:lstStyle/>
                    <a:p>
                      <a:r>
                        <a:rPr lang="fr-FR" dirty="0"/>
                        <a:t>Période</a:t>
                      </a:r>
                      <a:endParaRPr dirty="0"/>
                    </a:p>
                  </a:txBody>
                  <a:tcPr/>
                </a:tc>
                <a:extLst>
                  <a:ext uri="{0D108BD9-81ED-4DB2-BD59-A6C34878D82A}">
                    <a16:rowId xmlns:a16="http://schemas.microsoft.com/office/drawing/2014/main" val="10000"/>
                  </a:ext>
                </a:extLst>
              </a:tr>
              <a:tr h="1360988">
                <a:tc>
                  <a:txBody>
                    <a:bodyPr/>
                    <a:lstStyle/>
                    <a:p>
                      <a:r>
                        <a:rPr dirty="0"/>
                        <a:t>US</a:t>
                      </a:r>
                      <a:r>
                        <a:rPr lang="fr-FR" dirty="0"/>
                        <a:t>ER 4</a:t>
                      </a:r>
                      <a:endParaRPr dirty="0"/>
                    </a:p>
                  </a:txBody>
                  <a:tcPr/>
                </a:tc>
                <a:tc>
                  <a:txBody>
                    <a:bodyPr/>
                    <a:lstStyle/>
                    <a:p>
                      <a:r>
                        <a:rPr dirty="0"/>
                        <a:t>En tant </a:t>
                      </a:r>
                      <a:r>
                        <a:rPr dirty="0" err="1"/>
                        <a:t>qu’utilisateur</a:t>
                      </a:r>
                      <a:r>
                        <a:rPr dirty="0"/>
                        <a:t>, je </a:t>
                      </a:r>
                      <a:r>
                        <a:rPr dirty="0" err="1"/>
                        <a:t>veux</a:t>
                      </a:r>
                      <a:r>
                        <a:rPr dirty="0"/>
                        <a:t> que le bracelet se </a:t>
                      </a:r>
                      <a:r>
                        <a:rPr dirty="0" err="1"/>
                        <a:t>connecte</a:t>
                      </a:r>
                      <a:r>
                        <a:rPr dirty="0"/>
                        <a:t> à </a:t>
                      </a:r>
                      <a:r>
                        <a:rPr dirty="0" err="1"/>
                        <a:t>mon</a:t>
                      </a:r>
                      <a:r>
                        <a:rPr dirty="0"/>
                        <a:t> smartphone via Bluetooth/Wi-Fi.</a:t>
                      </a:r>
                    </a:p>
                  </a:txBody>
                  <a:tcPr/>
                </a:tc>
                <a:tc>
                  <a:txBody>
                    <a:bodyPr/>
                    <a:lstStyle/>
                    <a:p>
                      <a:r>
                        <a:rPr lang="fr-FR" dirty="0"/>
                        <a:t>1</a:t>
                      </a:r>
                      <a:endParaRPr dirty="0"/>
                    </a:p>
                  </a:txBody>
                  <a:tcPr/>
                </a:tc>
                <a:tc>
                  <a:txBody>
                    <a:bodyPr/>
                    <a:lstStyle/>
                    <a:p>
                      <a:r>
                        <a:rPr dirty="0" err="1"/>
                        <a:t>Connexion</a:t>
                      </a:r>
                      <a:r>
                        <a:rPr dirty="0"/>
                        <a:t> stable et </a:t>
                      </a:r>
                      <a:r>
                        <a:rPr dirty="0" err="1"/>
                        <a:t>automatique</a:t>
                      </a:r>
                      <a:r>
                        <a:rPr dirty="0"/>
                        <a:t> avec </a:t>
                      </a:r>
                      <a:r>
                        <a:rPr dirty="0" err="1"/>
                        <a:t>l’application</a:t>
                      </a:r>
                      <a:r>
                        <a:rPr dirty="0"/>
                        <a:t>.</a:t>
                      </a:r>
                    </a:p>
                  </a:txBody>
                  <a:tcPr/>
                </a:tc>
                <a:tc>
                  <a:txBody>
                    <a:bodyPr/>
                    <a:lstStyle/>
                    <a:p>
                      <a:r>
                        <a:rPr lang="fr-FR" dirty="0"/>
                        <a:t>2 semaines</a:t>
                      </a:r>
                      <a:endParaRPr dirty="0"/>
                    </a:p>
                  </a:txBody>
                  <a:tcPr/>
                </a:tc>
                <a:extLst>
                  <a:ext uri="{0D108BD9-81ED-4DB2-BD59-A6C34878D82A}">
                    <a16:rowId xmlns:a16="http://schemas.microsoft.com/office/drawing/2014/main" val="10001"/>
                  </a:ext>
                </a:extLst>
              </a:tr>
              <a:tr h="1178543">
                <a:tc>
                  <a:txBody>
                    <a:bodyPr/>
                    <a:lstStyle/>
                    <a:p>
                      <a:r>
                        <a:rPr dirty="0"/>
                        <a:t>US</a:t>
                      </a:r>
                      <a:r>
                        <a:rPr lang="fr-FR" dirty="0"/>
                        <a:t>ER 5</a:t>
                      </a:r>
                      <a:endParaRPr dirty="0"/>
                    </a:p>
                  </a:txBody>
                  <a:tcPr/>
                </a:tc>
                <a:tc>
                  <a:txBody>
                    <a:bodyPr/>
                    <a:lstStyle/>
                    <a:p>
                      <a:r>
                        <a:rPr dirty="0"/>
                        <a:t>En tant que </a:t>
                      </a:r>
                      <a:r>
                        <a:rPr dirty="0" err="1"/>
                        <a:t>médecin</a:t>
                      </a:r>
                      <a:r>
                        <a:rPr dirty="0"/>
                        <a:t>, je </a:t>
                      </a:r>
                      <a:r>
                        <a:rPr dirty="0" err="1"/>
                        <a:t>veux</a:t>
                      </a:r>
                      <a:r>
                        <a:rPr dirty="0"/>
                        <a:t> que les données </a:t>
                      </a:r>
                      <a:r>
                        <a:rPr dirty="0" err="1"/>
                        <a:t>puissent</a:t>
                      </a:r>
                      <a:r>
                        <a:rPr dirty="0"/>
                        <a:t> </a:t>
                      </a:r>
                      <a:r>
                        <a:rPr dirty="0" err="1"/>
                        <a:t>être</a:t>
                      </a:r>
                      <a:r>
                        <a:rPr dirty="0"/>
                        <a:t> </a:t>
                      </a:r>
                      <a:r>
                        <a:rPr dirty="0" err="1"/>
                        <a:t>transmises</a:t>
                      </a:r>
                      <a:r>
                        <a:rPr dirty="0"/>
                        <a:t> à distance via un </a:t>
                      </a:r>
                      <a:r>
                        <a:rPr dirty="0" err="1"/>
                        <a:t>serveur</a:t>
                      </a:r>
                      <a:r>
                        <a:rPr dirty="0"/>
                        <a:t> </a:t>
                      </a:r>
                      <a:r>
                        <a:rPr dirty="0" err="1"/>
                        <a:t>sécurisé</a:t>
                      </a:r>
                      <a:r>
                        <a:rPr dirty="0"/>
                        <a:t>.</a:t>
                      </a:r>
                    </a:p>
                  </a:txBody>
                  <a:tcPr/>
                </a:tc>
                <a:tc>
                  <a:txBody>
                    <a:bodyPr/>
                    <a:lstStyle/>
                    <a:p>
                      <a:r>
                        <a:rPr lang="fr-FR" dirty="0"/>
                        <a:t>2</a:t>
                      </a:r>
                      <a:endParaRPr dirty="0"/>
                    </a:p>
                  </a:txBody>
                  <a:tcPr/>
                </a:tc>
                <a:tc>
                  <a:txBody>
                    <a:bodyPr/>
                    <a:lstStyle/>
                    <a:p>
                      <a:r>
                        <a:rPr dirty="0"/>
                        <a:t>Les données </a:t>
                      </a:r>
                      <a:r>
                        <a:rPr dirty="0" err="1"/>
                        <a:t>doivent</a:t>
                      </a:r>
                      <a:r>
                        <a:rPr dirty="0"/>
                        <a:t> </a:t>
                      </a:r>
                      <a:r>
                        <a:rPr dirty="0" err="1"/>
                        <a:t>être</a:t>
                      </a:r>
                      <a:r>
                        <a:rPr dirty="0"/>
                        <a:t> </a:t>
                      </a:r>
                      <a:r>
                        <a:rPr dirty="0" err="1"/>
                        <a:t>stockées</a:t>
                      </a:r>
                      <a:r>
                        <a:rPr dirty="0"/>
                        <a:t> et </a:t>
                      </a:r>
                      <a:r>
                        <a:rPr dirty="0" err="1"/>
                        <a:t>accessibles</a:t>
                      </a:r>
                      <a:r>
                        <a:rPr dirty="0"/>
                        <a:t> </a:t>
                      </a:r>
                      <a:r>
                        <a:rPr dirty="0" err="1"/>
                        <a:t>uniquement</a:t>
                      </a:r>
                      <a:r>
                        <a:rPr dirty="0"/>
                        <a:t> par les utilisateurs </a:t>
                      </a:r>
                      <a:r>
                        <a:rPr dirty="0" err="1"/>
                        <a:t>autorisés</a:t>
                      </a:r>
                      <a:r>
                        <a:rPr dirty="0"/>
                        <a:t>.</a:t>
                      </a:r>
                    </a:p>
                  </a:txBody>
                  <a:tcPr/>
                </a:tc>
                <a:tc>
                  <a:txBody>
                    <a:bodyPr/>
                    <a:lstStyle/>
                    <a:p>
                      <a:r>
                        <a:rPr lang="fr-FR" dirty="0"/>
                        <a:t>2 semaines </a:t>
                      </a:r>
                      <a:endParaRPr dirty="0"/>
                    </a:p>
                  </a:txBody>
                  <a:tcPr/>
                </a:tc>
                <a:extLst>
                  <a:ext uri="{0D108BD9-81ED-4DB2-BD59-A6C34878D82A}">
                    <a16:rowId xmlns:a16="http://schemas.microsoft.com/office/drawing/2014/main" val="10002"/>
                  </a:ext>
                </a:extLst>
              </a:tr>
            </a:tbl>
          </a:graphicData>
        </a:graphic>
      </p:graphicFrame>
      <p:sp>
        <p:nvSpPr>
          <p:cNvPr id="27" name="ZoneTexte 26">
            <a:extLst>
              <a:ext uri="{FF2B5EF4-FFF2-40B4-BE49-F238E27FC236}">
                <a16:creationId xmlns:a16="http://schemas.microsoft.com/office/drawing/2014/main" id="{03CB9D6A-3437-E949-EB94-FB6C2EFE8761}"/>
              </a:ext>
            </a:extLst>
          </p:cNvPr>
          <p:cNvSpPr txBox="1"/>
          <p:nvPr/>
        </p:nvSpPr>
        <p:spPr>
          <a:xfrm>
            <a:off x="-75605" y="4148941"/>
            <a:ext cx="7338060" cy="584775"/>
          </a:xfrm>
          <a:prstGeom prst="rect">
            <a:avLst/>
          </a:prstGeom>
          <a:noFill/>
        </p:spPr>
        <p:txBody>
          <a:bodyPr wrap="square">
            <a:spAutoFit/>
          </a:bodyPr>
          <a:lstStyle/>
          <a:p>
            <a:r>
              <a:rPr lang="fr-FR" sz="3200" dirty="0"/>
              <a:t>🔒 Sécurité &amp; Confidentialité:</a:t>
            </a:r>
          </a:p>
        </p:txBody>
      </p:sp>
      <p:graphicFrame>
        <p:nvGraphicFramePr>
          <p:cNvPr id="28" name="Table 2">
            <a:extLst>
              <a:ext uri="{FF2B5EF4-FFF2-40B4-BE49-F238E27FC236}">
                <a16:creationId xmlns:a16="http://schemas.microsoft.com/office/drawing/2014/main" id="{5666F4D7-B63E-650E-A6DF-54389BFD801A}"/>
              </a:ext>
            </a:extLst>
          </p:cNvPr>
          <p:cNvGraphicFramePr>
            <a:graphicFrameLocks noGrp="1"/>
          </p:cNvGraphicFramePr>
          <p:nvPr>
            <p:extLst>
              <p:ext uri="{D42A27DB-BD31-4B8C-83A1-F6EECF244321}">
                <p14:modId xmlns:p14="http://schemas.microsoft.com/office/powerpoint/2010/main" val="1341797939"/>
              </p:ext>
            </p:extLst>
          </p:nvPr>
        </p:nvGraphicFramePr>
        <p:xfrm>
          <a:off x="1" y="4883235"/>
          <a:ext cx="14630399" cy="2772757"/>
        </p:xfrm>
        <a:graphic>
          <a:graphicData uri="http://schemas.openxmlformats.org/drawingml/2006/table">
            <a:tbl>
              <a:tblPr firstRow="1" bandRow="1">
                <a:tableStyleId>{5C22544A-7EE6-4342-B048-85BDC9FD1C3A}</a:tableStyleId>
              </a:tblPr>
              <a:tblGrid>
                <a:gridCol w="1385126">
                  <a:extLst>
                    <a:ext uri="{9D8B030D-6E8A-4147-A177-3AD203B41FA5}">
                      <a16:colId xmlns:a16="http://schemas.microsoft.com/office/drawing/2014/main" val="20000"/>
                    </a:ext>
                  </a:extLst>
                </a:gridCol>
                <a:gridCol w="4078807">
                  <a:extLst>
                    <a:ext uri="{9D8B030D-6E8A-4147-A177-3AD203B41FA5}">
                      <a16:colId xmlns:a16="http://schemas.microsoft.com/office/drawing/2014/main" val="20001"/>
                    </a:ext>
                  </a:extLst>
                </a:gridCol>
                <a:gridCol w="2152208">
                  <a:extLst>
                    <a:ext uri="{9D8B030D-6E8A-4147-A177-3AD203B41FA5}">
                      <a16:colId xmlns:a16="http://schemas.microsoft.com/office/drawing/2014/main" val="20002"/>
                    </a:ext>
                  </a:extLst>
                </a:gridCol>
                <a:gridCol w="5300789">
                  <a:extLst>
                    <a:ext uri="{9D8B030D-6E8A-4147-A177-3AD203B41FA5}">
                      <a16:colId xmlns:a16="http://schemas.microsoft.com/office/drawing/2014/main" val="20003"/>
                    </a:ext>
                  </a:extLst>
                </a:gridCol>
                <a:gridCol w="1713469">
                  <a:extLst>
                    <a:ext uri="{9D8B030D-6E8A-4147-A177-3AD203B41FA5}">
                      <a16:colId xmlns:a16="http://schemas.microsoft.com/office/drawing/2014/main" val="4270975836"/>
                    </a:ext>
                  </a:extLst>
                </a:gridCol>
              </a:tblGrid>
              <a:tr h="398464">
                <a:tc>
                  <a:txBody>
                    <a:bodyPr/>
                    <a:lstStyle/>
                    <a:p>
                      <a:r>
                        <a:t>ID</a:t>
                      </a:r>
                    </a:p>
                  </a:txBody>
                  <a:tcPr/>
                </a:tc>
                <a:tc>
                  <a:txBody>
                    <a:bodyPr/>
                    <a:lstStyle/>
                    <a:p>
                      <a:r>
                        <a:t>User Story</a:t>
                      </a:r>
                    </a:p>
                  </a:txBody>
                  <a:tcPr/>
                </a:tc>
                <a:tc>
                  <a:txBody>
                    <a:bodyPr/>
                    <a:lstStyle/>
                    <a:p>
                      <a:r>
                        <a:t>Priorité</a:t>
                      </a:r>
                    </a:p>
                  </a:txBody>
                  <a:tcPr/>
                </a:tc>
                <a:tc>
                  <a:txBody>
                    <a:bodyPr/>
                    <a:lstStyle/>
                    <a:p>
                      <a:r>
                        <a:rPr dirty="0" err="1"/>
                        <a:t>Critères</a:t>
                      </a:r>
                      <a:r>
                        <a:rPr dirty="0"/>
                        <a:t> </a:t>
                      </a:r>
                      <a:r>
                        <a:rPr dirty="0" err="1"/>
                        <a:t>d’acceptation</a:t>
                      </a:r>
                      <a:endParaRPr dirty="0"/>
                    </a:p>
                  </a:txBody>
                  <a:tcPr/>
                </a:tc>
                <a:tc>
                  <a:txBody>
                    <a:bodyPr/>
                    <a:lstStyle/>
                    <a:p>
                      <a:r>
                        <a:rPr lang="fr-FR" dirty="0"/>
                        <a:t>Période</a:t>
                      </a:r>
                      <a:endParaRPr dirty="0"/>
                    </a:p>
                  </a:txBody>
                  <a:tcPr/>
                </a:tc>
                <a:extLst>
                  <a:ext uri="{0D108BD9-81ED-4DB2-BD59-A6C34878D82A}">
                    <a16:rowId xmlns:a16="http://schemas.microsoft.com/office/drawing/2014/main" val="10000"/>
                  </a:ext>
                </a:extLst>
              </a:tr>
              <a:tr h="934133">
                <a:tc>
                  <a:txBody>
                    <a:bodyPr/>
                    <a:lstStyle/>
                    <a:p>
                      <a:r>
                        <a:rPr dirty="0"/>
                        <a:t>US</a:t>
                      </a:r>
                      <a:r>
                        <a:rPr lang="fr-FR" dirty="0"/>
                        <a:t>ER 6</a:t>
                      </a:r>
                      <a:endParaRPr dirty="0"/>
                    </a:p>
                  </a:txBody>
                  <a:tcPr/>
                </a:tc>
                <a:tc>
                  <a:txBody>
                    <a:bodyPr/>
                    <a:lstStyle/>
                    <a:p>
                      <a:r>
                        <a:rPr dirty="0"/>
                        <a:t>En tant </a:t>
                      </a:r>
                      <a:r>
                        <a:rPr dirty="0" err="1"/>
                        <a:t>qu’utilisateur</a:t>
                      </a:r>
                      <a:r>
                        <a:rPr dirty="0"/>
                        <a:t>, je </a:t>
                      </a:r>
                      <a:r>
                        <a:rPr dirty="0" err="1"/>
                        <a:t>veux</a:t>
                      </a:r>
                      <a:r>
                        <a:rPr dirty="0"/>
                        <a:t> que </a:t>
                      </a:r>
                      <a:r>
                        <a:rPr dirty="0" err="1"/>
                        <a:t>mes</a:t>
                      </a:r>
                      <a:r>
                        <a:rPr dirty="0"/>
                        <a:t> données de santé </a:t>
                      </a:r>
                      <a:r>
                        <a:rPr dirty="0" err="1"/>
                        <a:t>soient</a:t>
                      </a:r>
                      <a:r>
                        <a:rPr dirty="0"/>
                        <a:t> </a:t>
                      </a:r>
                      <a:r>
                        <a:rPr dirty="0" err="1"/>
                        <a:t>sécurisées</a:t>
                      </a:r>
                      <a:r>
                        <a:rPr dirty="0"/>
                        <a:t>.</a:t>
                      </a:r>
                    </a:p>
                  </a:txBody>
                  <a:tcPr/>
                </a:tc>
                <a:tc>
                  <a:txBody>
                    <a:bodyPr/>
                    <a:lstStyle/>
                    <a:p>
                      <a:r>
                        <a:rPr lang="fr-FR" dirty="0"/>
                        <a:t>1</a:t>
                      </a:r>
                      <a:endParaRPr dirty="0"/>
                    </a:p>
                  </a:txBody>
                  <a:tcPr/>
                </a:tc>
                <a:tc>
                  <a:txBody>
                    <a:bodyPr/>
                    <a:lstStyle/>
                    <a:p>
                      <a:r>
                        <a:rPr dirty="0" err="1"/>
                        <a:t>Chiffrement</a:t>
                      </a:r>
                      <a:r>
                        <a:rPr dirty="0"/>
                        <a:t> des données et </a:t>
                      </a:r>
                      <a:r>
                        <a:rPr dirty="0" err="1"/>
                        <a:t>accès</a:t>
                      </a:r>
                      <a:r>
                        <a:rPr dirty="0"/>
                        <a:t> </a:t>
                      </a:r>
                      <a:r>
                        <a:rPr dirty="0" err="1"/>
                        <a:t>sécurisé</a:t>
                      </a:r>
                      <a:r>
                        <a:rPr dirty="0"/>
                        <a:t>.</a:t>
                      </a:r>
                    </a:p>
                  </a:txBody>
                  <a:tcPr/>
                </a:tc>
                <a:tc>
                  <a:txBody>
                    <a:bodyPr/>
                    <a:lstStyle/>
                    <a:p>
                      <a:r>
                        <a:rPr lang="fr-FR" dirty="0"/>
                        <a:t>2 semaines</a:t>
                      </a:r>
                      <a:endParaRPr dirty="0"/>
                    </a:p>
                  </a:txBody>
                  <a:tcPr/>
                </a:tc>
                <a:extLst>
                  <a:ext uri="{0D108BD9-81ED-4DB2-BD59-A6C34878D82A}">
                    <a16:rowId xmlns:a16="http://schemas.microsoft.com/office/drawing/2014/main" val="10001"/>
                  </a:ext>
                </a:extLst>
              </a:tr>
              <a:tr h="1273141">
                <a:tc>
                  <a:txBody>
                    <a:bodyPr/>
                    <a:lstStyle/>
                    <a:p>
                      <a:r>
                        <a:rPr dirty="0"/>
                        <a:t>US</a:t>
                      </a:r>
                      <a:r>
                        <a:rPr lang="fr-FR" dirty="0"/>
                        <a:t>ER 7</a:t>
                      </a:r>
                      <a:endParaRPr dirty="0"/>
                    </a:p>
                  </a:txBody>
                  <a:tcPr/>
                </a:tc>
                <a:tc>
                  <a:txBody>
                    <a:bodyPr/>
                    <a:lstStyle/>
                    <a:p>
                      <a:r>
                        <a:rPr dirty="0"/>
                        <a:t>En tant </a:t>
                      </a:r>
                      <a:r>
                        <a:rPr dirty="0" err="1"/>
                        <a:t>qu’administrateur</a:t>
                      </a:r>
                      <a:r>
                        <a:rPr dirty="0"/>
                        <a:t>, je </a:t>
                      </a:r>
                      <a:r>
                        <a:rPr dirty="0" err="1"/>
                        <a:t>veux</a:t>
                      </a:r>
                      <a:r>
                        <a:rPr dirty="0"/>
                        <a:t> </a:t>
                      </a:r>
                      <a:r>
                        <a:rPr dirty="0" err="1"/>
                        <a:t>pouvoir</a:t>
                      </a:r>
                      <a:r>
                        <a:rPr dirty="0"/>
                        <a:t> </a:t>
                      </a:r>
                      <a:r>
                        <a:rPr dirty="0" err="1"/>
                        <a:t>gérer</a:t>
                      </a:r>
                      <a:r>
                        <a:rPr dirty="0"/>
                        <a:t> les </a:t>
                      </a:r>
                      <a:r>
                        <a:rPr dirty="0" err="1"/>
                        <a:t>autorisations</a:t>
                      </a:r>
                      <a:r>
                        <a:rPr dirty="0"/>
                        <a:t> </a:t>
                      </a:r>
                      <a:r>
                        <a:rPr dirty="0" err="1"/>
                        <a:t>d’accès</a:t>
                      </a:r>
                      <a:r>
                        <a:rPr dirty="0"/>
                        <a:t> aux données.</a:t>
                      </a:r>
                    </a:p>
                  </a:txBody>
                  <a:tcPr/>
                </a:tc>
                <a:tc>
                  <a:txBody>
                    <a:bodyPr/>
                    <a:lstStyle/>
                    <a:p>
                      <a:r>
                        <a:rPr lang="fr-FR" dirty="0"/>
                        <a:t>2</a:t>
                      </a:r>
                      <a:endParaRPr dirty="0"/>
                    </a:p>
                  </a:txBody>
                  <a:tcPr/>
                </a:tc>
                <a:tc>
                  <a:txBody>
                    <a:bodyPr/>
                    <a:lstStyle/>
                    <a:p>
                      <a:r>
                        <a:rPr dirty="0" err="1"/>
                        <a:t>Authentification</a:t>
                      </a:r>
                      <a:r>
                        <a:rPr dirty="0"/>
                        <a:t> et gestion des </a:t>
                      </a:r>
                      <a:r>
                        <a:rPr dirty="0" err="1"/>
                        <a:t>rôles</a:t>
                      </a:r>
                      <a:r>
                        <a:rPr dirty="0"/>
                        <a:t> utilisateurs.</a:t>
                      </a:r>
                    </a:p>
                  </a:txBody>
                  <a:tcPr/>
                </a:tc>
                <a:tc>
                  <a:txBody>
                    <a:bodyPr/>
                    <a:lstStyle/>
                    <a:p>
                      <a:r>
                        <a:rPr lang="fr-FR" dirty="0"/>
                        <a:t>2 semaines</a:t>
                      </a:r>
                      <a:endParaRPr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CE515AE1-6348-5791-6AC1-9526324528F2}"/>
              </a:ext>
            </a:extLst>
          </p:cNvPr>
          <p:cNvSpPr txBox="1"/>
          <p:nvPr/>
        </p:nvSpPr>
        <p:spPr>
          <a:xfrm>
            <a:off x="167640" y="-73243"/>
            <a:ext cx="7315200" cy="584775"/>
          </a:xfrm>
          <a:prstGeom prst="rect">
            <a:avLst/>
          </a:prstGeom>
          <a:noFill/>
        </p:spPr>
        <p:txBody>
          <a:bodyPr wrap="square">
            <a:spAutoFit/>
          </a:bodyPr>
          <a:lstStyle/>
          <a:p>
            <a:r>
              <a:rPr lang="fr-FR" sz="3200" dirty="0"/>
              <a:t>📲 Application mobile:</a:t>
            </a:r>
          </a:p>
        </p:txBody>
      </p:sp>
      <p:graphicFrame>
        <p:nvGraphicFramePr>
          <p:cNvPr id="4" name="Table 2">
            <a:extLst>
              <a:ext uri="{FF2B5EF4-FFF2-40B4-BE49-F238E27FC236}">
                <a16:creationId xmlns:a16="http://schemas.microsoft.com/office/drawing/2014/main" id="{0321B766-C643-87AF-4AF4-49674409C4CA}"/>
              </a:ext>
            </a:extLst>
          </p:cNvPr>
          <p:cNvGraphicFramePr>
            <a:graphicFrameLocks noGrp="1"/>
          </p:cNvGraphicFramePr>
          <p:nvPr>
            <p:extLst>
              <p:ext uri="{D42A27DB-BD31-4B8C-83A1-F6EECF244321}">
                <p14:modId xmlns:p14="http://schemas.microsoft.com/office/powerpoint/2010/main" val="3766475124"/>
              </p:ext>
            </p:extLst>
          </p:nvPr>
        </p:nvGraphicFramePr>
        <p:xfrm>
          <a:off x="63468" y="511532"/>
          <a:ext cx="14566932" cy="3873867"/>
        </p:xfrm>
        <a:graphic>
          <a:graphicData uri="http://schemas.openxmlformats.org/drawingml/2006/table">
            <a:tbl>
              <a:tblPr firstRow="1" bandRow="1">
                <a:tableStyleId>{5C22544A-7EE6-4342-B048-85BDC9FD1C3A}</a:tableStyleId>
              </a:tblPr>
              <a:tblGrid>
                <a:gridCol w="849635">
                  <a:extLst>
                    <a:ext uri="{9D8B030D-6E8A-4147-A177-3AD203B41FA5}">
                      <a16:colId xmlns:a16="http://schemas.microsoft.com/office/drawing/2014/main" val="20000"/>
                    </a:ext>
                  </a:extLst>
                </a:gridCol>
                <a:gridCol w="3951990">
                  <a:extLst>
                    <a:ext uri="{9D8B030D-6E8A-4147-A177-3AD203B41FA5}">
                      <a16:colId xmlns:a16="http://schemas.microsoft.com/office/drawing/2014/main" val="20001"/>
                    </a:ext>
                  </a:extLst>
                </a:gridCol>
                <a:gridCol w="1144631">
                  <a:extLst>
                    <a:ext uri="{9D8B030D-6E8A-4147-A177-3AD203B41FA5}">
                      <a16:colId xmlns:a16="http://schemas.microsoft.com/office/drawing/2014/main" val="20002"/>
                    </a:ext>
                  </a:extLst>
                </a:gridCol>
                <a:gridCol w="6542468">
                  <a:extLst>
                    <a:ext uri="{9D8B030D-6E8A-4147-A177-3AD203B41FA5}">
                      <a16:colId xmlns:a16="http://schemas.microsoft.com/office/drawing/2014/main" val="20003"/>
                    </a:ext>
                  </a:extLst>
                </a:gridCol>
                <a:gridCol w="2078208">
                  <a:extLst>
                    <a:ext uri="{9D8B030D-6E8A-4147-A177-3AD203B41FA5}">
                      <a16:colId xmlns:a16="http://schemas.microsoft.com/office/drawing/2014/main" val="3481990598"/>
                    </a:ext>
                  </a:extLst>
                </a:gridCol>
              </a:tblGrid>
              <a:tr h="297842">
                <a:tc>
                  <a:txBody>
                    <a:bodyPr/>
                    <a:lstStyle/>
                    <a:p>
                      <a:r>
                        <a:rPr dirty="0"/>
                        <a:t>ID</a:t>
                      </a:r>
                    </a:p>
                  </a:txBody>
                  <a:tcPr/>
                </a:tc>
                <a:tc>
                  <a:txBody>
                    <a:bodyPr/>
                    <a:lstStyle/>
                    <a:p>
                      <a:r>
                        <a:t>User Story</a:t>
                      </a:r>
                    </a:p>
                  </a:txBody>
                  <a:tcPr/>
                </a:tc>
                <a:tc>
                  <a:txBody>
                    <a:bodyPr/>
                    <a:lstStyle/>
                    <a:p>
                      <a:r>
                        <a:t>Priorité</a:t>
                      </a:r>
                    </a:p>
                  </a:txBody>
                  <a:tcPr/>
                </a:tc>
                <a:tc>
                  <a:txBody>
                    <a:bodyPr/>
                    <a:lstStyle/>
                    <a:p>
                      <a:r>
                        <a:t>Critères d’acceptation</a:t>
                      </a:r>
                    </a:p>
                  </a:txBody>
                  <a:tcPr/>
                </a:tc>
                <a:tc>
                  <a:txBody>
                    <a:bodyPr/>
                    <a:lstStyle/>
                    <a:p>
                      <a:r>
                        <a:rPr lang="fr-FR" dirty="0"/>
                        <a:t>Période</a:t>
                      </a:r>
                      <a:endParaRPr dirty="0"/>
                    </a:p>
                  </a:txBody>
                  <a:tcPr/>
                </a:tc>
                <a:extLst>
                  <a:ext uri="{0D108BD9-81ED-4DB2-BD59-A6C34878D82A}">
                    <a16:rowId xmlns:a16="http://schemas.microsoft.com/office/drawing/2014/main" val="10000"/>
                  </a:ext>
                </a:extLst>
              </a:tr>
              <a:tr h="1877701">
                <a:tc>
                  <a:txBody>
                    <a:bodyPr/>
                    <a:lstStyle/>
                    <a:p>
                      <a:r>
                        <a:rPr dirty="0"/>
                        <a:t>US</a:t>
                      </a:r>
                      <a:r>
                        <a:rPr lang="fr-FR" dirty="0"/>
                        <a:t>ER8</a:t>
                      </a:r>
                      <a:endParaRPr dirty="0"/>
                    </a:p>
                  </a:txBody>
                  <a:tcPr/>
                </a:tc>
                <a:tc>
                  <a:txBody>
                    <a:bodyPr/>
                    <a:lstStyle/>
                    <a:p>
                      <a:r>
                        <a:rPr sz="2800" dirty="0"/>
                        <a:t>En tant </a:t>
                      </a:r>
                      <a:r>
                        <a:rPr sz="2800" dirty="0" err="1"/>
                        <a:t>qu’utilisateur</a:t>
                      </a:r>
                      <a:r>
                        <a:rPr sz="2800" dirty="0"/>
                        <a:t>, je </a:t>
                      </a:r>
                      <a:r>
                        <a:rPr sz="2800" dirty="0" err="1"/>
                        <a:t>veux</a:t>
                      </a:r>
                      <a:r>
                        <a:rPr sz="2800" dirty="0"/>
                        <a:t> </a:t>
                      </a:r>
                      <a:r>
                        <a:rPr sz="2800" dirty="0" err="1"/>
                        <a:t>voir</a:t>
                      </a:r>
                      <a:r>
                        <a:rPr sz="2800" dirty="0"/>
                        <a:t> </a:t>
                      </a:r>
                      <a:r>
                        <a:rPr sz="2800" dirty="0" err="1"/>
                        <a:t>mes</a:t>
                      </a:r>
                      <a:r>
                        <a:rPr sz="2800" dirty="0"/>
                        <a:t> </a:t>
                      </a:r>
                      <a:r>
                        <a:rPr sz="2800" dirty="0" err="1"/>
                        <a:t>constantes</a:t>
                      </a:r>
                      <a:r>
                        <a:rPr sz="2800" dirty="0"/>
                        <a:t> </a:t>
                      </a:r>
                      <a:r>
                        <a:rPr sz="2800" dirty="0" err="1"/>
                        <a:t>vitales</a:t>
                      </a:r>
                      <a:r>
                        <a:rPr sz="2800" dirty="0"/>
                        <a:t> sur une application mobile.</a:t>
                      </a:r>
                    </a:p>
                  </a:txBody>
                  <a:tcPr/>
                </a:tc>
                <a:tc>
                  <a:txBody>
                    <a:bodyPr/>
                    <a:lstStyle/>
                    <a:p>
                      <a:r>
                        <a:rPr lang="fr-FR" sz="2800" dirty="0"/>
                        <a:t>1</a:t>
                      </a:r>
                      <a:endParaRPr sz="2800" dirty="0"/>
                    </a:p>
                  </a:txBody>
                  <a:tcPr/>
                </a:tc>
                <a:tc>
                  <a:txBody>
                    <a:bodyPr/>
                    <a:lstStyle/>
                    <a:p>
                      <a:r>
                        <a:rPr sz="2800" dirty="0"/>
                        <a:t>Interface simple et </a:t>
                      </a:r>
                      <a:r>
                        <a:rPr sz="2800" dirty="0" err="1"/>
                        <a:t>claire</a:t>
                      </a:r>
                      <a:r>
                        <a:rPr sz="2800" dirty="0"/>
                        <a:t> avec des </a:t>
                      </a:r>
                      <a:r>
                        <a:rPr sz="2800" dirty="0" err="1"/>
                        <a:t>graphiques</a:t>
                      </a:r>
                      <a:r>
                        <a:rPr sz="2800" dirty="0"/>
                        <a:t> de </a:t>
                      </a:r>
                      <a:r>
                        <a:rPr sz="2800" dirty="0" err="1"/>
                        <a:t>suivi</a:t>
                      </a:r>
                      <a:r>
                        <a:rPr sz="2800" dirty="0"/>
                        <a:t>.</a:t>
                      </a:r>
                    </a:p>
                  </a:txBody>
                  <a:tcPr/>
                </a:tc>
                <a:tc>
                  <a:txBody>
                    <a:bodyPr/>
                    <a:lstStyle/>
                    <a:p>
                      <a:r>
                        <a:rPr lang="fr-FR" sz="2800" dirty="0"/>
                        <a:t>2 semaines</a:t>
                      </a:r>
                      <a:endParaRPr sz="2800" dirty="0"/>
                    </a:p>
                  </a:txBody>
                  <a:tcPr/>
                </a:tc>
                <a:extLst>
                  <a:ext uri="{0D108BD9-81ED-4DB2-BD59-A6C34878D82A}">
                    <a16:rowId xmlns:a16="http://schemas.microsoft.com/office/drawing/2014/main" val="10001"/>
                  </a:ext>
                </a:extLst>
              </a:tr>
              <a:tr h="1575542">
                <a:tc>
                  <a:txBody>
                    <a:bodyPr/>
                    <a:lstStyle/>
                    <a:p>
                      <a:r>
                        <a:rPr dirty="0"/>
                        <a:t>US</a:t>
                      </a:r>
                      <a:r>
                        <a:rPr lang="fr-FR" dirty="0"/>
                        <a:t>ER9</a:t>
                      </a:r>
                      <a:endParaRPr dirty="0"/>
                    </a:p>
                  </a:txBody>
                  <a:tcPr/>
                </a:tc>
                <a:tc>
                  <a:txBody>
                    <a:bodyPr/>
                    <a:lstStyle/>
                    <a:p>
                      <a:r>
                        <a:rPr sz="2800" dirty="0"/>
                        <a:t>En tant </a:t>
                      </a:r>
                      <a:r>
                        <a:rPr sz="2800" dirty="0" err="1"/>
                        <a:t>qu’utilisateur</a:t>
                      </a:r>
                      <a:r>
                        <a:rPr sz="2800" dirty="0"/>
                        <a:t>, je </a:t>
                      </a:r>
                      <a:r>
                        <a:rPr sz="2800" dirty="0" err="1"/>
                        <a:t>veux</a:t>
                      </a:r>
                      <a:r>
                        <a:rPr sz="2800" dirty="0"/>
                        <a:t> </a:t>
                      </a:r>
                      <a:r>
                        <a:rPr sz="2800" dirty="0" err="1"/>
                        <a:t>recevoir</a:t>
                      </a:r>
                      <a:r>
                        <a:rPr sz="2800" dirty="0"/>
                        <a:t> des alertes sur </a:t>
                      </a:r>
                      <a:r>
                        <a:rPr sz="2800" dirty="0" err="1"/>
                        <a:t>mon</a:t>
                      </a:r>
                      <a:r>
                        <a:rPr sz="2800" dirty="0"/>
                        <a:t> </a:t>
                      </a:r>
                      <a:r>
                        <a:rPr sz="2800" dirty="0" err="1"/>
                        <a:t>téléphone</a:t>
                      </a:r>
                      <a:r>
                        <a:rPr sz="2800" dirty="0"/>
                        <a:t>.</a:t>
                      </a:r>
                    </a:p>
                  </a:txBody>
                  <a:tcPr/>
                </a:tc>
                <a:tc>
                  <a:txBody>
                    <a:bodyPr/>
                    <a:lstStyle/>
                    <a:p>
                      <a:r>
                        <a:rPr lang="fr-FR" sz="2800" dirty="0"/>
                        <a:t>1</a:t>
                      </a:r>
                    </a:p>
                  </a:txBody>
                  <a:tcPr/>
                </a:tc>
                <a:tc>
                  <a:txBody>
                    <a:bodyPr/>
                    <a:lstStyle/>
                    <a:p>
                      <a:r>
                        <a:rPr sz="2800" dirty="0"/>
                        <a:t>Notifications push en cas de </a:t>
                      </a:r>
                      <a:r>
                        <a:rPr sz="2800" dirty="0" err="1"/>
                        <a:t>problème</a:t>
                      </a:r>
                      <a:r>
                        <a:rPr sz="2800" dirty="0"/>
                        <a:t>.</a:t>
                      </a:r>
                    </a:p>
                  </a:txBody>
                  <a:tcPr/>
                </a:tc>
                <a:tc>
                  <a:txBody>
                    <a:bodyPr/>
                    <a:lstStyle/>
                    <a:p>
                      <a:r>
                        <a:rPr lang="fr-FR" sz="2800" dirty="0"/>
                        <a:t>2 semaines</a:t>
                      </a:r>
                      <a:endParaRPr sz="2800" dirty="0"/>
                    </a:p>
                  </a:txBody>
                  <a:tcPr/>
                </a:tc>
                <a:extLst>
                  <a:ext uri="{0D108BD9-81ED-4DB2-BD59-A6C34878D82A}">
                    <a16:rowId xmlns:a16="http://schemas.microsoft.com/office/drawing/2014/main" val="10002"/>
                  </a:ext>
                </a:extLst>
              </a:tr>
            </a:tbl>
          </a:graphicData>
        </a:graphic>
      </p:graphicFrame>
      <p:sp>
        <p:nvSpPr>
          <p:cNvPr id="6" name="ZoneTexte 5">
            <a:extLst>
              <a:ext uri="{FF2B5EF4-FFF2-40B4-BE49-F238E27FC236}">
                <a16:creationId xmlns:a16="http://schemas.microsoft.com/office/drawing/2014/main" id="{C150E632-FAF4-59BC-BE39-8DE085D31C69}"/>
              </a:ext>
            </a:extLst>
          </p:cNvPr>
          <p:cNvSpPr txBox="1"/>
          <p:nvPr/>
        </p:nvSpPr>
        <p:spPr>
          <a:xfrm>
            <a:off x="63468" y="4321069"/>
            <a:ext cx="7315200" cy="584775"/>
          </a:xfrm>
          <a:prstGeom prst="rect">
            <a:avLst/>
          </a:prstGeom>
          <a:noFill/>
        </p:spPr>
        <p:txBody>
          <a:bodyPr wrap="square">
            <a:spAutoFit/>
          </a:bodyPr>
          <a:lstStyle/>
          <a:p>
            <a:r>
              <a:rPr lang="fr-FR" sz="2800" dirty="0"/>
              <a:t>⚙️ </a:t>
            </a:r>
            <a:r>
              <a:rPr lang="fr-FR" sz="3200" dirty="0"/>
              <a:t>Autonomie &amp; Performance:</a:t>
            </a:r>
          </a:p>
        </p:txBody>
      </p:sp>
      <p:graphicFrame>
        <p:nvGraphicFramePr>
          <p:cNvPr id="11" name="Table 2">
            <a:extLst>
              <a:ext uri="{FF2B5EF4-FFF2-40B4-BE49-F238E27FC236}">
                <a16:creationId xmlns:a16="http://schemas.microsoft.com/office/drawing/2014/main" id="{EE1905E8-83D2-F5A8-25A7-C063EEC60F57}"/>
              </a:ext>
            </a:extLst>
          </p:cNvPr>
          <p:cNvGraphicFramePr>
            <a:graphicFrameLocks noGrp="1"/>
          </p:cNvGraphicFramePr>
          <p:nvPr>
            <p:extLst>
              <p:ext uri="{D42A27DB-BD31-4B8C-83A1-F6EECF244321}">
                <p14:modId xmlns:p14="http://schemas.microsoft.com/office/powerpoint/2010/main" val="338017347"/>
              </p:ext>
            </p:extLst>
          </p:nvPr>
        </p:nvGraphicFramePr>
        <p:xfrm>
          <a:off x="-1" y="4970174"/>
          <a:ext cx="14630401" cy="2765471"/>
        </p:xfrm>
        <a:graphic>
          <a:graphicData uri="http://schemas.openxmlformats.org/drawingml/2006/table">
            <a:tbl>
              <a:tblPr firstRow="1" bandRow="1">
                <a:tableStyleId>{5C22544A-7EE6-4342-B048-85BDC9FD1C3A}</a:tableStyleId>
              </a:tblPr>
              <a:tblGrid>
                <a:gridCol w="1232985">
                  <a:extLst>
                    <a:ext uri="{9D8B030D-6E8A-4147-A177-3AD203B41FA5}">
                      <a16:colId xmlns:a16="http://schemas.microsoft.com/office/drawing/2014/main" val="20000"/>
                    </a:ext>
                  </a:extLst>
                </a:gridCol>
                <a:gridCol w="6035915">
                  <a:extLst>
                    <a:ext uri="{9D8B030D-6E8A-4147-A177-3AD203B41FA5}">
                      <a16:colId xmlns:a16="http://schemas.microsoft.com/office/drawing/2014/main" val="20001"/>
                    </a:ext>
                  </a:extLst>
                </a:gridCol>
                <a:gridCol w="1076446">
                  <a:extLst>
                    <a:ext uri="{9D8B030D-6E8A-4147-A177-3AD203B41FA5}">
                      <a16:colId xmlns:a16="http://schemas.microsoft.com/office/drawing/2014/main" val="20002"/>
                    </a:ext>
                  </a:extLst>
                </a:gridCol>
                <a:gridCol w="4629873">
                  <a:extLst>
                    <a:ext uri="{9D8B030D-6E8A-4147-A177-3AD203B41FA5}">
                      <a16:colId xmlns:a16="http://schemas.microsoft.com/office/drawing/2014/main" val="20003"/>
                    </a:ext>
                  </a:extLst>
                </a:gridCol>
                <a:gridCol w="1655182">
                  <a:extLst>
                    <a:ext uri="{9D8B030D-6E8A-4147-A177-3AD203B41FA5}">
                      <a16:colId xmlns:a16="http://schemas.microsoft.com/office/drawing/2014/main" val="374978264"/>
                    </a:ext>
                  </a:extLst>
                </a:gridCol>
              </a:tblGrid>
              <a:tr h="582068">
                <a:tc>
                  <a:txBody>
                    <a:bodyPr/>
                    <a:lstStyle/>
                    <a:p>
                      <a:r>
                        <a:rPr dirty="0"/>
                        <a:t>ID</a:t>
                      </a:r>
                    </a:p>
                  </a:txBody>
                  <a:tcPr/>
                </a:tc>
                <a:tc>
                  <a:txBody>
                    <a:bodyPr/>
                    <a:lstStyle/>
                    <a:p>
                      <a:r>
                        <a:rPr dirty="0"/>
                        <a:t>User Story</a:t>
                      </a:r>
                    </a:p>
                  </a:txBody>
                  <a:tcPr/>
                </a:tc>
                <a:tc>
                  <a:txBody>
                    <a:bodyPr/>
                    <a:lstStyle/>
                    <a:p>
                      <a:r>
                        <a:rPr dirty="0" err="1"/>
                        <a:t>Priorité</a:t>
                      </a:r>
                      <a:endParaRPr dirty="0"/>
                    </a:p>
                  </a:txBody>
                  <a:tcPr/>
                </a:tc>
                <a:tc>
                  <a:txBody>
                    <a:bodyPr/>
                    <a:lstStyle/>
                    <a:p>
                      <a:r>
                        <a:rPr dirty="0" err="1"/>
                        <a:t>Critères</a:t>
                      </a:r>
                      <a:r>
                        <a:rPr dirty="0"/>
                        <a:t> </a:t>
                      </a:r>
                      <a:r>
                        <a:rPr dirty="0" err="1"/>
                        <a:t>d’acceptation</a:t>
                      </a:r>
                      <a:endParaRPr dirty="0"/>
                    </a:p>
                  </a:txBody>
                  <a:tcPr/>
                </a:tc>
                <a:tc>
                  <a:txBody>
                    <a:bodyPr/>
                    <a:lstStyle/>
                    <a:p>
                      <a:r>
                        <a:rPr lang="fr-FR" dirty="0"/>
                        <a:t>Période</a:t>
                      </a:r>
                      <a:endParaRPr dirty="0"/>
                    </a:p>
                  </a:txBody>
                  <a:tcPr/>
                </a:tc>
                <a:extLst>
                  <a:ext uri="{0D108BD9-81ED-4DB2-BD59-A6C34878D82A}">
                    <a16:rowId xmlns:a16="http://schemas.microsoft.com/office/drawing/2014/main" val="10000"/>
                  </a:ext>
                </a:extLst>
              </a:tr>
              <a:tr h="1061222">
                <a:tc>
                  <a:txBody>
                    <a:bodyPr/>
                    <a:lstStyle/>
                    <a:p>
                      <a:r>
                        <a:rPr sz="2400" dirty="0"/>
                        <a:t>US</a:t>
                      </a:r>
                      <a:r>
                        <a:rPr lang="fr-FR" sz="2400" dirty="0"/>
                        <a:t>ER 10</a:t>
                      </a:r>
                      <a:endParaRPr sz="2400" dirty="0"/>
                    </a:p>
                  </a:txBody>
                  <a:tcPr/>
                </a:tc>
                <a:tc>
                  <a:txBody>
                    <a:bodyPr/>
                    <a:lstStyle/>
                    <a:p>
                      <a:r>
                        <a:rPr sz="2400" dirty="0"/>
                        <a:t>En tant </a:t>
                      </a:r>
                      <a:r>
                        <a:rPr sz="2400" dirty="0" err="1"/>
                        <a:t>qu’utilisateur</a:t>
                      </a:r>
                      <a:r>
                        <a:rPr sz="2400" dirty="0"/>
                        <a:t>, je </a:t>
                      </a:r>
                      <a:r>
                        <a:rPr sz="2400" dirty="0" err="1"/>
                        <a:t>veux</a:t>
                      </a:r>
                      <a:r>
                        <a:rPr sz="2400" dirty="0"/>
                        <a:t> que le bracelet </a:t>
                      </a:r>
                      <a:r>
                        <a:rPr sz="2400" dirty="0" err="1"/>
                        <a:t>ait</a:t>
                      </a:r>
                      <a:r>
                        <a:rPr sz="2400" dirty="0"/>
                        <a:t> une </a:t>
                      </a:r>
                      <a:r>
                        <a:rPr sz="2400" dirty="0" err="1"/>
                        <a:t>autonomie</a:t>
                      </a:r>
                      <a:r>
                        <a:rPr sz="2400" dirty="0"/>
                        <a:t> </a:t>
                      </a:r>
                      <a:r>
                        <a:rPr sz="2400" dirty="0" err="1"/>
                        <a:t>d’au</a:t>
                      </a:r>
                      <a:r>
                        <a:rPr sz="2400" dirty="0"/>
                        <a:t> </a:t>
                      </a:r>
                      <a:r>
                        <a:rPr sz="2400" dirty="0" err="1"/>
                        <a:t>moins</a:t>
                      </a:r>
                      <a:r>
                        <a:rPr sz="2400" dirty="0"/>
                        <a:t> 24 </a:t>
                      </a:r>
                      <a:r>
                        <a:rPr sz="2400" dirty="0" err="1"/>
                        <a:t>heures</a:t>
                      </a:r>
                      <a:r>
                        <a:rPr sz="2400" dirty="0"/>
                        <a:t>.</a:t>
                      </a:r>
                    </a:p>
                  </a:txBody>
                  <a:tcPr/>
                </a:tc>
                <a:tc>
                  <a:txBody>
                    <a:bodyPr/>
                    <a:lstStyle/>
                    <a:p>
                      <a:r>
                        <a:rPr lang="fr-FR" sz="2400" dirty="0"/>
                        <a:t>4</a:t>
                      </a:r>
                      <a:endParaRPr sz="2400" dirty="0"/>
                    </a:p>
                  </a:txBody>
                  <a:tcPr/>
                </a:tc>
                <a:tc>
                  <a:txBody>
                    <a:bodyPr/>
                    <a:lstStyle/>
                    <a:p>
                      <a:r>
                        <a:rPr sz="2400" dirty="0" err="1"/>
                        <a:t>Optimisation</a:t>
                      </a:r>
                      <a:r>
                        <a:rPr sz="2400" dirty="0"/>
                        <a:t> </a:t>
                      </a:r>
                      <a:r>
                        <a:rPr sz="2400" dirty="0" err="1"/>
                        <a:t>énergétique</a:t>
                      </a:r>
                      <a:r>
                        <a:rPr sz="2400" dirty="0"/>
                        <a:t> des </a:t>
                      </a:r>
                      <a:r>
                        <a:rPr sz="2400" dirty="0" err="1"/>
                        <a:t>capteurs</a:t>
                      </a:r>
                      <a:r>
                        <a:rPr sz="2400" dirty="0"/>
                        <a:t> et communication.</a:t>
                      </a:r>
                    </a:p>
                  </a:txBody>
                  <a:tcPr/>
                </a:tc>
                <a:tc>
                  <a:txBody>
                    <a:bodyPr/>
                    <a:lstStyle/>
                    <a:p>
                      <a:r>
                        <a:rPr lang="fr-FR" sz="2400" dirty="0"/>
                        <a:t>2 semaines</a:t>
                      </a:r>
                      <a:endParaRPr sz="2400" dirty="0"/>
                    </a:p>
                  </a:txBody>
                  <a:tcPr/>
                </a:tc>
                <a:extLst>
                  <a:ext uri="{0D108BD9-81ED-4DB2-BD59-A6C34878D82A}">
                    <a16:rowId xmlns:a16="http://schemas.microsoft.com/office/drawing/2014/main" val="10001"/>
                  </a:ext>
                </a:extLst>
              </a:tr>
              <a:tr h="1122181">
                <a:tc>
                  <a:txBody>
                    <a:bodyPr/>
                    <a:lstStyle/>
                    <a:p>
                      <a:r>
                        <a:rPr sz="2400" dirty="0"/>
                        <a:t>US</a:t>
                      </a:r>
                      <a:r>
                        <a:rPr lang="fr-FR" sz="2400" dirty="0"/>
                        <a:t>ER </a:t>
                      </a:r>
                      <a:r>
                        <a:rPr sz="2400" dirty="0"/>
                        <a:t>1</a:t>
                      </a:r>
                      <a:r>
                        <a:rPr lang="fr-FR" sz="2400" dirty="0"/>
                        <a:t>1</a:t>
                      </a:r>
                      <a:endParaRPr sz="2400" dirty="0"/>
                    </a:p>
                  </a:txBody>
                  <a:tcPr/>
                </a:tc>
                <a:tc>
                  <a:txBody>
                    <a:bodyPr/>
                    <a:lstStyle/>
                    <a:p>
                      <a:r>
                        <a:rPr lang="fr-FR" sz="2400" dirty="0"/>
                        <a:t>En tant qu’ingénieur, je veux que le bracelet soit mis à jour à distance.</a:t>
                      </a:r>
                    </a:p>
                  </a:txBody>
                  <a:tcPr/>
                </a:tc>
                <a:tc>
                  <a:txBody>
                    <a:bodyPr/>
                    <a:lstStyle/>
                    <a:p>
                      <a:r>
                        <a:rPr lang="fr-FR" sz="2400" dirty="0"/>
                        <a:t>1</a:t>
                      </a:r>
                    </a:p>
                  </a:txBody>
                  <a:tcPr/>
                </a:tc>
                <a:tc>
                  <a:txBody>
                    <a:bodyPr/>
                    <a:lstStyle/>
                    <a:p>
                      <a:r>
                        <a:rPr sz="2400" dirty="0"/>
                        <a:t>Mise à jour du firmware OTA (Over The Air).</a:t>
                      </a:r>
                    </a:p>
                  </a:txBody>
                  <a:tcPr/>
                </a:tc>
                <a:tc>
                  <a:txBody>
                    <a:bodyPr/>
                    <a:lstStyle/>
                    <a:p>
                      <a:r>
                        <a:rPr lang="fr-FR" sz="2400" dirty="0"/>
                        <a:t>2 semaines</a:t>
                      </a:r>
                      <a:endParaRPr sz="2400" dirty="0"/>
                    </a:p>
                  </a:txBody>
                  <a:tcPr/>
                </a:tc>
                <a:extLst>
                  <a:ext uri="{0D108BD9-81ED-4DB2-BD59-A6C34878D82A}">
                    <a16:rowId xmlns:a16="http://schemas.microsoft.com/office/drawing/2014/main" val="10002"/>
                  </a:ext>
                </a:extLst>
              </a:tr>
            </a:tbl>
          </a:graphicData>
        </a:graphic>
      </p:graphicFrame>
      <p:sp>
        <p:nvSpPr>
          <p:cNvPr id="12" name="ZoneTexte 11">
            <a:extLst>
              <a:ext uri="{FF2B5EF4-FFF2-40B4-BE49-F238E27FC236}">
                <a16:creationId xmlns:a16="http://schemas.microsoft.com/office/drawing/2014/main" id="{3EDDC4B8-0F5D-C411-B071-DC8FB259C23E}"/>
              </a:ext>
            </a:extLst>
          </p:cNvPr>
          <p:cNvSpPr txBox="1"/>
          <p:nvPr/>
        </p:nvSpPr>
        <p:spPr>
          <a:xfrm>
            <a:off x="13000009" y="7727397"/>
            <a:ext cx="1478280" cy="584775"/>
          </a:xfrm>
          <a:prstGeom prst="rect">
            <a:avLst/>
          </a:prstGeom>
          <a:noFill/>
        </p:spPr>
        <p:txBody>
          <a:bodyPr wrap="square" rtlCol="0">
            <a:spAutoFit/>
          </a:bodyPr>
          <a:lstStyle/>
          <a:p>
            <a:pPr algn="r"/>
            <a:r>
              <a:rPr lang="fr-FR" sz="3200" dirty="0"/>
              <a:t>6</a:t>
            </a:r>
          </a:p>
        </p:txBody>
      </p:sp>
    </p:spTree>
    <p:extLst>
      <p:ext uri="{BB962C8B-B14F-4D97-AF65-F5344CB8AC3E}">
        <p14:creationId xmlns:p14="http://schemas.microsoft.com/office/powerpoint/2010/main" val="81428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634616C4-AB1E-EA90-E4AF-8502671904AC}"/>
              </a:ext>
            </a:extLst>
          </p:cNvPr>
          <p:cNvSpPr txBox="1"/>
          <p:nvPr/>
        </p:nvSpPr>
        <p:spPr>
          <a:xfrm>
            <a:off x="12917346" y="7674015"/>
            <a:ext cx="1585731" cy="584775"/>
          </a:xfrm>
          <a:prstGeom prst="rect">
            <a:avLst/>
          </a:prstGeom>
          <a:noFill/>
        </p:spPr>
        <p:txBody>
          <a:bodyPr wrap="square" rtlCol="0">
            <a:spAutoFit/>
          </a:bodyPr>
          <a:lstStyle/>
          <a:p>
            <a:pPr algn="r"/>
            <a:r>
              <a:rPr lang="fr-FR" sz="3200" dirty="0"/>
              <a:t>7</a:t>
            </a:r>
          </a:p>
        </p:txBody>
      </p:sp>
      <p:sp>
        <p:nvSpPr>
          <p:cNvPr id="2" name="ZoneTexte 1">
            <a:extLst>
              <a:ext uri="{FF2B5EF4-FFF2-40B4-BE49-F238E27FC236}">
                <a16:creationId xmlns:a16="http://schemas.microsoft.com/office/drawing/2014/main" id="{AB461A1B-386C-E88A-2F9F-DB8C945FC996}"/>
              </a:ext>
            </a:extLst>
          </p:cNvPr>
          <p:cNvSpPr txBox="1"/>
          <p:nvPr/>
        </p:nvSpPr>
        <p:spPr>
          <a:xfrm>
            <a:off x="682907" y="42638"/>
            <a:ext cx="5454442" cy="707886"/>
          </a:xfrm>
          <a:prstGeom prst="rect">
            <a:avLst/>
          </a:prstGeom>
          <a:noFill/>
        </p:spPr>
        <p:txBody>
          <a:bodyPr wrap="none" rtlCol="0">
            <a:spAutoFit/>
          </a:bodyPr>
          <a:lstStyle/>
          <a:p>
            <a:r>
              <a:rPr lang="fr-FR" sz="4000" dirty="0">
                <a:solidFill>
                  <a:srgbClr val="7030A0"/>
                </a:solidFill>
              </a:rPr>
              <a:t>2-Diagramme de classes :</a:t>
            </a:r>
          </a:p>
        </p:txBody>
      </p:sp>
      <p:pic>
        <p:nvPicPr>
          <p:cNvPr id="9" name="Image 8">
            <a:extLst>
              <a:ext uri="{FF2B5EF4-FFF2-40B4-BE49-F238E27FC236}">
                <a16:creationId xmlns:a16="http://schemas.microsoft.com/office/drawing/2014/main" id="{7011C283-AD30-9E59-9B55-39A81B8CFC94}"/>
              </a:ext>
            </a:extLst>
          </p:cNvPr>
          <p:cNvPicPr>
            <a:picLocks noChangeAspect="1"/>
          </p:cNvPicPr>
          <p:nvPr/>
        </p:nvPicPr>
        <p:blipFill>
          <a:blip r:embed="rId2"/>
          <a:stretch>
            <a:fillRect/>
          </a:stretch>
        </p:blipFill>
        <p:spPr>
          <a:xfrm>
            <a:off x="254644" y="843121"/>
            <a:ext cx="14121112" cy="69366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04364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a:extLst>
            <a:ext uri="{FF2B5EF4-FFF2-40B4-BE49-F238E27FC236}">
              <a16:creationId xmlns:a16="http://schemas.microsoft.com/office/drawing/2014/main" id="{6F0BCDB1-A0A1-2368-FB74-89107D2A391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7D58CDD-DA86-408A-209E-582B7206EFA1}"/>
              </a:ext>
            </a:extLst>
          </p:cNvPr>
          <p:cNvPicPr>
            <a:picLocks noChangeAspect="1"/>
          </p:cNvPicPr>
          <p:nvPr/>
        </p:nvPicPr>
        <p:blipFill>
          <a:blip r:embed="rId2"/>
          <a:stretch>
            <a:fillRect/>
          </a:stretch>
        </p:blipFill>
        <p:spPr>
          <a:xfrm>
            <a:off x="1143000" y="659756"/>
            <a:ext cx="12344400" cy="756984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ZoneTexte 6">
            <a:extLst>
              <a:ext uri="{FF2B5EF4-FFF2-40B4-BE49-F238E27FC236}">
                <a16:creationId xmlns:a16="http://schemas.microsoft.com/office/drawing/2014/main" id="{5DAED2C3-5AFA-A554-22BE-1D78008FED12}"/>
              </a:ext>
            </a:extLst>
          </p:cNvPr>
          <p:cNvSpPr txBox="1"/>
          <p:nvPr/>
        </p:nvSpPr>
        <p:spPr>
          <a:xfrm>
            <a:off x="659758" y="25000"/>
            <a:ext cx="7315200" cy="707886"/>
          </a:xfrm>
          <a:prstGeom prst="rect">
            <a:avLst/>
          </a:prstGeom>
          <a:noFill/>
        </p:spPr>
        <p:txBody>
          <a:bodyPr wrap="square">
            <a:spAutoFit/>
          </a:bodyPr>
          <a:lstStyle/>
          <a:p>
            <a:r>
              <a:rPr lang="fr-FR" sz="4000" dirty="0">
                <a:solidFill>
                  <a:srgbClr val="7030A0"/>
                </a:solidFill>
              </a:rPr>
              <a:t>3-Diagramme de cas d’utilisation:</a:t>
            </a:r>
          </a:p>
        </p:txBody>
      </p:sp>
      <p:sp>
        <p:nvSpPr>
          <p:cNvPr id="8" name="ZoneTexte 7">
            <a:extLst>
              <a:ext uri="{FF2B5EF4-FFF2-40B4-BE49-F238E27FC236}">
                <a16:creationId xmlns:a16="http://schemas.microsoft.com/office/drawing/2014/main" id="{5E6066EE-D6A8-C82B-E2A5-363AC9318495}"/>
              </a:ext>
            </a:extLst>
          </p:cNvPr>
          <p:cNvSpPr txBox="1"/>
          <p:nvPr/>
        </p:nvSpPr>
        <p:spPr>
          <a:xfrm>
            <a:off x="13496081" y="7594844"/>
            <a:ext cx="1134319" cy="646331"/>
          </a:xfrm>
          <a:prstGeom prst="rect">
            <a:avLst/>
          </a:prstGeom>
          <a:noFill/>
        </p:spPr>
        <p:txBody>
          <a:bodyPr wrap="square" rtlCol="0">
            <a:spAutoFit/>
          </a:bodyPr>
          <a:lstStyle/>
          <a:p>
            <a:pPr algn="r"/>
            <a:r>
              <a:rPr lang="fr-FR" sz="3600" dirty="0"/>
              <a:t>8</a:t>
            </a:r>
          </a:p>
        </p:txBody>
      </p:sp>
    </p:spTree>
    <p:extLst>
      <p:ext uri="{BB962C8B-B14F-4D97-AF65-F5344CB8AC3E}">
        <p14:creationId xmlns:p14="http://schemas.microsoft.com/office/powerpoint/2010/main" val="1141569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chemeClr val="accent1">
            <a:lumMod val="60000"/>
            <a:lumOff val="40000"/>
          </a:scheme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11575"/>
            <a:ext cx="5486400" cy="8229600"/>
          </a:xfrm>
          <a:prstGeom prst="rect">
            <a:avLst/>
          </a:prstGeom>
        </p:spPr>
      </p:pic>
      <p:sp>
        <p:nvSpPr>
          <p:cNvPr id="3" name="Text 0"/>
          <p:cNvSpPr/>
          <p:nvPr/>
        </p:nvSpPr>
        <p:spPr>
          <a:xfrm>
            <a:off x="568285" y="577096"/>
            <a:ext cx="8007429" cy="1068229"/>
          </a:xfrm>
          <a:prstGeom prst="rect">
            <a:avLst/>
          </a:prstGeom>
          <a:noFill/>
          <a:ln/>
        </p:spPr>
        <p:txBody>
          <a:bodyPr wrap="square" lIns="0" tIns="0" rIns="0" bIns="0" rtlCol="0" anchor="t"/>
          <a:lstStyle/>
          <a:p>
            <a:pPr marL="0" indent="0" algn="l">
              <a:lnSpc>
                <a:spcPts val="4200"/>
              </a:lnSpc>
              <a:buNone/>
            </a:pPr>
            <a:r>
              <a:rPr lang="en-US" sz="3350" b="1" dirty="0">
                <a:solidFill>
                  <a:srgbClr val="7030A0"/>
                </a:solidFill>
                <a:latin typeface="Barlow Bold" pitchFamily="34" charset="0"/>
                <a:ea typeface="Barlow Bold" pitchFamily="34" charset="-122"/>
                <a:cs typeface="Barlow Bold" pitchFamily="34" charset="-120"/>
              </a:rPr>
              <a:t>Sprint 1 : Prototype de l'Application et Connexion Bluetooth</a:t>
            </a:r>
            <a:endParaRPr lang="en-US" sz="3350" dirty="0">
              <a:solidFill>
                <a:srgbClr val="7030A0"/>
              </a:solidFill>
            </a:endParaRPr>
          </a:p>
        </p:txBody>
      </p:sp>
      <p:sp>
        <p:nvSpPr>
          <p:cNvPr id="4" name="Shape 1"/>
          <p:cNvSpPr/>
          <p:nvPr/>
        </p:nvSpPr>
        <p:spPr>
          <a:xfrm>
            <a:off x="750927" y="1888808"/>
            <a:ext cx="22860" cy="5061466"/>
          </a:xfrm>
          <a:prstGeom prst="roundRect">
            <a:avLst>
              <a:gd name="adj" fmla="val 639300"/>
            </a:avLst>
          </a:prstGeom>
          <a:solidFill>
            <a:srgbClr val="C1C3D0"/>
          </a:solidFill>
          <a:ln/>
        </p:spPr>
      </p:sp>
      <p:sp>
        <p:nvSpPr>
          <p:cNvPr id="5" name="Shape 2"/>
          <p:cNvSpPr/>
          <p:nvPr/>
        </p:nvSpPr>
        <p:spPr>
          <a:xfrm>
            <a:off x="910709" y="2242661"/>
            <a:ext cx="487085" cy="22860"/>
          </a:xfrm>
          <a:prstGeom prst="roundRect">
            <a:avLst>
              <a:gd name="adj" fmla="val 639300"/>
            </a:avLst>
          </a:prstGeom>
          <a:solidFill>
            <a:srgbClr val="C1C3D0"/>
          </a:solidFill>
          <a:ln/>
        </p:spPr>
      </p:sp>
      <p:sp>
        <p:nvSpPr>
          <p:cNvPr id="6" name="Shape 3"/>
          <p:cNvSpPr/>
          <p:nvPr/>
        </p:nvSpPr>
        <p:spPr>
          <a:xfrm>
            <a:off x="568285" y="2071449"/>
            <a:ext cx="365284" cy="365284"/>
          </a:xfrm>
          <a:prstGeom prst="roundRect">
            <a:avLst>
              <a:gd name="adj" fmla="val 40008"/>
            </a:avLst>
          </a:prstGeom>
          <a:solidFill>
            <a:srgbClr val="EEEFF5"/>
          </a:solidFill>
          <a:ln/>
          <a:effectLst>
            <a:outerShdw blurRad="39370" dist="19050" dir="13500000" algn="bl" rotWithShape="0">
              <a:srgbClr val="FFFFFF">
                <a:alpha val="70000"/>
              </a:srgbClr>
            </a:outerShdw>
          </a:effectLst>
        </p:spPr>
      </p:sp>
      <p:sp>
        <p:nvSpPr>
          <p:cNvPr id="7" name="Text 4"/>
          <p:cNvSpPr/>
          <p:nvPr/>
        </p:nvSpPr>
        <p:spPr>
          <a:xfrm>
            <a:off x="622756" y="2093893"/>
            <a:ext cx="256342" cy="320397"/>
          </a:xfrm>
          <a:prstGeom prst="rect">
            <a:avLst/>
          </a:prstGeom>
          <a:noFill/>
          <a:ln/>
        </p:spPr>
        <p:txBody>
          <a:bodyPr wrap="none" lIns="0" tIns="0" rIns="0" bIns="0" rtlCol="0" anchor="t"/>
          <a:lstStyle/>
          <a:p>
            <a:pPr marL="0" indent="0" algn="ctr">
              <a:lnSpc>
                <a:spcPts val="2000"/>
              </a:lnSpc>
              <a:buNone/>
            </a:pPr>
            <a:r>
              <a:rPr lang="en-US" sz="2000" b="1" dirty="0">
                <a:solidFill>
                  <a:srgbClr val="272525"/>
                </a:solidFill>
                <a:latin typeface="Barlow Bold" pitchFamily="34" charset="0"/>
                <a:ea typeface="Barlow Bold" pitchFamily="34" charset="-122"/>
                <a:cs typeface="Barlow Bold" pitchFamily="34" charset="-120"/>
              </a:rPr>
              <a:t>1</a:t>
            </a:r>
            <a:endParaRPr lang="en-US" sz="2000" dirty="0"/>
          </a:p>
        </p:txBody>
      </p:sp>
      <p:sp>
        <p:nvSpPr>
          <p:cNvPr id="8" name="Text 5"/>
          <p:cNvSpPr/>
          <p:nvPr/>
        </p:nvSpPr>
        <p:spPr>
          <a:xfrm>
            <a:off x="1562814" y="2051090"/>
            <a:ext cx="2680930" cy="267057"/>
          </a:xfrm>
          <a:prstGeom prst="rect">
            <a:avLst/>
          </a:prstGeom>
          <a:noFill/>
          <a:ln/>
        </p:spPr>
        <p:txBody>
          <a:bodyPr wrap="none" lIns="0" tIns="0" rIns="0" bIns="0" rtlCol="0" anchor="t"/>
          <a:lstStyle/>
          <a:p>
            <a:pPr marL="0" indent="0" algn="l">
              <a:lnSpc>
                <a:spcPts val="2100"/>
              </a:lnSpc>
              <a:buNone/>
            </a:pPr>
            <a:r>
              <a:rPr lang="en-US" sz="1650" b="1" dirty="0">
                <a:solidFill>
                  <a:srgbClr val="272525"/>
                </a:solidFill>
                <a:latin typeface="Barlow Bold" pitchFamily="34" charset="0"/>
                <a:ea typeface="Barlow Bold" pitchFamily="34" charset="-122"/>
                <a:cs typeface="Barlow Bold" pitchFamily="34" charset="-120"/>
              </a:rPr>
              <a:t>Interface utilisateur basique</a:t>
            </a:r>
            <a:endParaRPr lang="en-US" sz="1650" dirty="0"/>
          </a:p>
        </p:txBody>
      </p:sp>
      <p:sp>
        <p:nvSpPr>
          <p:cNvPr id="9" name="Text 6"/>
          <p:cNvSpPr/>
          <p:nvPr/>
        </p:nvSpPr>
        <p:spPr>
          <a:xfrm>
            <a:off x="1562814" y="2415540"/>
            <a:ext cx="7012900" cy="51958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Montserrat" pitchFamily="34" charset="0"/>
                <a:ea typeface="Montserrat" pitchFamily="34" charset="-122"/>
                <a:cs typeface="Montserrat" pitchFamily="34" charset="-120"/>
              </a:rPr>
              <a:t>Développement du tableau de bord avec affichage des paramètres vitaux tels que la fréquence cardiaque, la pression artérielle et le taux de glucose.</a:t>
            </a:r>
            <a:endParaRPr lang="en-US" sz="1250" dirty="0"/>
          </a:p>
        </p:txBody>
      </p:sp>
      <p:sp>
        <p:nvSpPr>
          <p:cNvPr id="10" name="Shape 7"/>
          <p:cNvSpPr/>
          <p:nvPr/>
        </p:nvSpPr>
        <p:spPr>
          <a:xfrm>
            <a:off x="910709" y="3613547"/>
            <a:ext cx="487085" cy="22860"/>
          </a:xfrm>
          <a:prstGeom prst="roundRect">
            <a:avLst>
              <a:gd name="adj" fmla="val 639300"/>
            </a:avLst>
          </a:prstGeom>
          <a:solidFill>
            <a:srgbClr val="C1C3D0"/>
          </a:solidFill>
          <a:ln/>
        </p:spPr>
      </p:sp>
      <p:sp>
        <p:nvSpPr>
          <p:cNvPr id="11" name="Shape 8"/>
          <p:cNvSpPr/>
          <p:nvPr/>
        </p:nvSpPr>
        <p:spPr>
          <a:xfrm>
            <a:off x="568285" y="3442335"/>
            <a:ext cx="365284" cy="365284"/>
          </a:xfrm>
          <a:prstGeom prst="roundRect">
            <a:avLst>
              <a:gd name="adj" fmla="val 40008"/>
            </a:avLst>
          </a:prstGeom>
          <a:solidFill>
            <a:srgbClr val="EEEFF5"/>
          </a:solidFill>
          <a:ln/>
          <a:effectLst>
            <a:outerShdw blurRad="39370" dist="19050" dir="13500000" algn="bl" rotWithShape="0">
              <a:srgbClr val="FFFFFF">
                <a:alpha val="70000"/>
              </a:srgbClr>
            </a:outerShdw>
          </a:effectLst>
        </p:spPr>
      </p:sp>
      <p:sp>
        <p:nvSpPr>
          <p:cNvPr id="12" name="Text 9"/>
          <p:cNvSpPr/>
          <p:nvPr/>
        </p:nvSpPr>
        <p:spPr>
          <a:xfrm>
            <a:off x="622756" y="3464778"/>
            <a:ext cx="256342" cy="320397"/>
          </a:xfrm>
          <a:prstGeom prst="rect">
            <a:avLst/>
          </a:prstGeom>
          <a:noFill/>
          <a:ln/>
        </p:spPr>
        <p:txBody>
          <a:bodyPr wrap="none" lIns="0" tIns="0" rIns="0" bIns="0" rtlCol="0" anchor="t"/>
          <a:lstStyle/>
          <a:p>
            <a:pPr marL="0" indent="0" algn="ctr">
              <a:lnSpc>
                <a:spcPts val="2000"/>
              </a:lnSpc>
              <a:buNone/>
            </a:pPr>
            <a:r>
              <a:rPr lang="en-US" sz="2000" b="1" dirty="0">
                <a:solidFill>
                  <a:srgbClr val="272525"/>
                </a:solidFill>
                <a:latin typeface="Barlow Bold" pitchFamily="34" charset="0"/>
                <a:ea typeface="Barlow Bold" pitchFamily="34" charset="-122"/>
                <a:cs typeface="Barlow Bold" pitchFamily="34" charset="-120"/>
              </a:rPr>
              <a:t>2</a:t>
            </a:r>
            <a:endParaRPr lang="en-US" sz="2000" dirty="0"/>
          </a:p>
        </p:txBody>
      </p:sp>
      <p:sp>
        <p:nvSpPr>
          <p:cNvPr id="13" name="Text 10"/>
          <p:cNvSpPr/>
          <p:nvPr/>
        </p:nvSpPr>
        <p:spPr>
          <a:xfrm>
            <a:off x="1562814" y="3421975"/>
            <a:ext cx="2136577" cy="267057"/>
          </a:xfrm>
          <a:prstGeom prst="rect">
            <a:avLst/>
          </a:prstGeom>
          <a:noFill/>
          <a:ln/>
        </p:spPr>
        <p:txBody>
          <a:bodyPr wrap="none" lIns="0" tIns="0" rIns="0" bIns="0" rtlCol="0" anchor="t"/>
          <a:lstStyle/>
          <a:p>
            <a:pPr marL="0" indent="0" algn="l">
              <a:lnSpc>
                <a:spcPts val="2100"/>
              </a:lnSpc>
              <a:buNone/>
            </a:pPr>
            <a:r>
              <a:rPr lang="en-US" sz="1650" b="1" dirty="0">
                <a:solidFill>
                  <a:srgbClr val="272525"/>
                </a:solidFill>
                <a:latin typeface="Barlow Bold" pitchFamily="34" charset="0"/>
                <a:ea typeface="Barlow Bold" pitchFamily="34" charset="-122"/>
                <a:cs typeface="Barlow Bold" pitchFamily="34" charset="-120"/>
              </a:rPr>
              <a:t>Intégration Bluetooth</a:t>
            </a:r>
            <a:endParaRPr lang="en-US" sz="1650" dirty="0"/>
          </a:p>
        </p:txBody>
      </p:sp>
      <p:sp>
        <p:nvSpPr>
          <p:cNvPr id="14" name="Text 11"/>
          <p:cNvSpPr/>
          <p:nvPr/>
        </p:nvSpPr>
        <p:spPr>
          <a:xfrm>
            <a:off x="1562814" y="3786426"/>
            <a:ext cx="7012900" cy="51958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Montserrat" pitchFamily="34" charset="0"/>
                <a:ea typeface="Montserrat" pitchFamily="34" charset="-122"/>
                <a:cs typeface="Montserrat" pitchFamily="34" charset="-120"/>
              </a:rPr>
              <a:t>Intégration du module </a:t>
            </a:r>
            <a:r>
              <a:rPr lang="en-US" sz="1250" b="1" dirty="0">
                <a:solidFill>
                  <a:srgbClr val="272525"/>
                </a:solidFill>
                <a:latin typeface="Montserrat" pitchFamily="34" charset="0"/>
                <a:ea typeface="Montserrat" pitchFamily="34" charset="-122"/>
                <a:cs typeface="Montserrat" pitchFamily="34" charset="-120"/>
              </a:rPr>
              <a:t>Bluetooth</a:t>
            </a:r>
            <a:r>
              <a:rPr lang="en-US" sz="1250" dirty="0">
                <a:solidFill>
                  <a:srgbClr val="272525"/>
                </a:solidFill>
                <a:latin typeface="Montserrat" pitchFamily="34" charset="0"/>
                <a:ea typeface="Montserrat" pitchFamily="34" charset="-122"/>
                <a:cs typeface="Montserrat" pitchFamily="34" charset="-120"/>
              </a:rPr>
              <a:t> pour permettre la communication entre l'application et le bracelet.</a:t>
            </a:r>
            <a:endParaRPr lang="en-US" sz="1250" dirty="0"/>
          </a:p>
        </p:txBody>
      </p:sp>
      <p:sp>
        <p:nvSpPr>
          <p:cNvPr id="15" name="Shape 12"/>
          <p:cNvSpPr/>
          <p:nvPr/>
        </p:nvSpPr>
        <p:spPr>
          <a:xfrm>
            <a:off x="910709" y="4984432"/>
            <a:ext cx="487085" cy="22860"/>
          </a:xfrm>
          <a:prstGeom prst="roundRect">
            <a:avLst>
              <a:gd name="adj" fmla="val 639300"/>
            </a:avLst>
          </a:prstGeom>
          <a:solidFill>
            <a:srgbClr val="C1C3D0"/>
          </a:solidFill>
          <a:ln/>
        </p:spPr>
      </p:sp>
      <p:sp>
        <p:nvSpPr>
          <p:cNvPr id="16" name="Shape 13"/>
          <p:cNvSpPr/>
          <p:nvPr/>
        </p:nvSpPr>
        <p:spPr>
          <a:xfrm>
            <a:off x="568285" y="4813221"/>
            <a:ext cx="365284" cy="365284"/>
          </a:xfrm>
          <a:prstGeom prst="roundRect">
            <a:avLst>
              <a:gd name="adj" fmla="val 40008"/>
            </a:avLst>
          </a:prstGeom>
          <a:solidFill>
            <a:srgbClr val="EEEFF5"/>
          </a:solidFill>
          <a:ln/>
          <a:effectLst>
            <a:outerShdw blurRad="39370" dist="19050" dir="13500000" algn="bl" rotWithShape="0">
              <a:srgbClr val="FFFFFF">
                <a:alpha val="70000"/>
              </a:srgbClr>
            </a:outerShdw>
          </a:effectLst>
        </p:spPr>
      </p:sp>
      <p:sp>
        <p:nvSpPr>
          <p:cNvPr id="17" name="Text 14"/>
          <p:cNvSpPr/>
          <p:nvPr/>
        </p:nvSpPr>
        <p:spPr>
          <a:xfrm>
            <a:off x="622756" y="4835664"/>
            <a:ext cx="256342" cy="320397"/>
          </a:xfrm>
          <a:prstGeom prst="rect">
            <a:avLst/>
          </a:prstGeom>
          <a:noFill/>
          <a:ln/>
        </p:spPr>
        <p:txBody>
          <a:bodyPr wrap="none" lIns="0" tIns="0" rIns="0" bIns="0" rtlCol="0" anchor="t"/>
          <a:lstStyle/>
          <a:p>
            <a:pPr marL="0" indent="0" algn="ctr">
              <a:lnSpc>
                <a:spcPts val="2000"/>
              </a:lnSpc>
              <a:buNone/>
            </a:pPr>
            <a:r>
              <a:rPr lang="en-US" sz="2000" b="1" dirty="0">
                <a:solidFill>
                  <a:srgbClr val="272525"/>
                </a:solidFill>
                <a:latin typeface="Barlow Bold" pitchFamily="34" charset="0"/>
                <a:ea typeface="Barlow Bold" pitchFamily="34" charset="-122"/>
                <a:cs typeface="Barlow Bold" pitchFamily="34" charset="-120"/>
              </a:rPr>
              <a:t>3</a:t>
            </a:r>
            <a:endParaRPr lang="en-US" sz="2000" dirty="0"/>
          </a:p>
        </p:txBody>
      </p:sp>
      <p:sp>
        <p:nvSpPr>
          <p:cNvPr id="18" name="Text 15"/>
          <p:cNvSpPr/>
          <p:nvPr/>
        </p:nvSpPr>
        <p:spPr>
          <a:xfrm>
            <a:off x="1562814" y="4792861"/>
            <a:ext cx="2532102" cy="267057"/>
          </a:xfrm>
          <a:prstGeom prst="rect">
            <a:avLst/>
          </a:prstGeom>
          <a:noFill/>
          <a:ln/>
        </p:spPr>
        <p:txBody>
          <a:bodyPr wrap="none" lIns="0" tIns="0" rIns="0" bIns="0" rtlCol="0" anchor="t"/>
          <a:lstStyle/>
          <a:p>
            <a:pPr marL="0" indent="0" algn="l">
              <a:lnSpc>
                <a:spcPts val="2100"/>
              </a:lnSpc>
              <a:buNone/>
            </a:pPr>
            <a:r>
              <a:rPr lang="en-US" sz="1650" b="1" dirty="0">
                <a:solidFill>
                  <a:srgbClr val="272525"/>
                </a:solidFill>
                <a:latin typeface="Barlow Bold" pitchFamily="34" charset="0"/>
                <a:ea typeface="Barlow Bold" pitchFamily="34" charset="-122"/>
                <a:cs typeface="Barlow Bold" pitchFamily="34" charset="-120"/>
              </a:rPr>
              <a:t>Authentification sécurisée</a:t>
            </a:r>
            <a:endParaRPr lang="en-US" sz="1650" dirty="0"/>
          </a:p>
        </p:txBody>
      </p:sp>
      <p:sp>
        <p:nvSpPr>
          <p:cNvPr id="19" name="Text 16"/>
          <p:cNvSpPr/>
          <p:nvPr/>
        </p:nvSpPr>
        <p:spPr>
          <a:xfrm>
            <a:off x="1562814" y="5157311"/>
            <a:ext cx="7012900" cy="259794"/>
          </a:xfrm>
          <a:prstGeom prst="rect">
            <a:avLst/>
          </a:prstGeom>
          <a:noFill/>
          <a:ln/>
        </p:spPr>
        <p:txBody>
          <a:bodyPr wrap="none" lIns="0" tIns="0" rIns="0" bIns="0" rtlCol="0" anchor="t"/>
          <a:lstStyle/>
          <a:p>
            <a:pPr marL="0" indent="0" algn="l">
              <a:lnSpc>
                <a:spcPts val="2000"/>
              </a:lnSpc>
              <a:buNone/>
            </a:pPr>
            <a:r>
              <a:rPr lang="en-US" sz="1250" dirty="0">
                <a:solidFill>
                  <a:srgbClr val="272525"/>
                </a:solidFill>
                <a:latin typeface="Montserrat" pitchFamily="34" charset="0"/>
                <a:ea typeface="Montserrat" pitchFamily="34" charset="-122"/>
                <a:cs typeface="Montserrat" pitchFamily="34" charset="-120"/>
              </a:rPr>
              <a:t>Mise en place d'une </a:t>
            </a:r>
            <a:r>
              <a:rPr lang="en-US" sz="1250" b="1" dirty="0">
                <a:solidFill>
                  <a:srgbClr val="272525"/>
                </a:solidFill>
                <a:latin typeface="Montserrat" pitchFamily="34" charset="0"/>
                <a:ea typeface="Montserrat" pitchFamily="34" charset="-122"/>
                <a:cs typeface="Montserrat" pitchFamily="34" charset="-120"/>
              </a:rPr>
              <a:t>authentification sécurisée</a:t>
            </a:r>
            <a:r>
              <a:rPr lang="en-US" sz="1250" dirty="0">
                <a:solidFill>
                  <a:srgbClr val="272525"/>
                </a:solidFill>
                <a:latin typeface="Montserrat" pitchFamily="34" charset="0"/>
                <a:ea typeface="Montserrat" pitchFamily="34" charset="-122"/>
                <a:cs typeface="Montserrat" pitchFamily="34" charset="-120"/>
              </a:rPr>
              <a:t> pour protéger les données médicales.</a:t>
            </a:r>
            <a:endParaRPr lang="en-US" sz="1250" dirty="0"/>
          </a:p>
        </p:txBody>
      </p:sp>
      <p:sp>
        <p:nvSpPr>
          <p:cNvPr id="20" name="Shape 17"/>
          <p:cNvSpPr/>
          <p:nvPr/>
        </p:nvSpPr>
        <p:spPr>
          <a:xfrm>
            <a:off x="910709" y="6095524"/>
            <a:ext cx="487085" cy="22860"/>
          </a:xfrm>
          <a:prstGeom prst="roundRect">
            <a:avLst>
              <a:gd name="adj" fmla="val 639300"/>
            </a:avLst>
          </a:prstGeom>
          <a:solidFill>
            <a:srgbClr val="C1C3D0"/>
          </a:solidFill>
          <a:ln/>
        </p:spPr>
      </p:sp>
      <p:sp>
        <p:nvSpPr>
          <p:cNvPr id="21" name="Shape 18"/>
          <p:cNvSpPr/>
          <p:nvPr/>
        </p:nvSpPr>
        <p:spPr>
          <a:xfrm>
            <a:off x="568285" y="5924312"/>
            <a:ext cx="365284" cy="365284"/>
          </a:xfrm>
          <a:prstGeom prst="roundRect">
            <a:avLst>
              <a:gd name="adj" fmla="val 40008"/>
            </a:avLst>
          </a:prstGeom>
          <a:solidFill>
            <a:srgbClr val="EEEFF5"/>
          </a:solidFill>
          <a:ln/>
          <a:effectLst>
            <a:outerShdw blurRad="39370" dist="19050" dir="13500000" algn="bl" rotWithShape="0">
              <a:srgbClr val="FFFFFF">
                <a:alpha val="70000"/>
              </a:srgbClr>
            </a:outerShdw>
          </a:effectLst>
        </p:spPr>
      </p:sp>
      <p:sp>
        <p:nvSpPr>
          <p:cNvPr id="22" name="Text 19"/>
          <p:cNvSpPr/>
          <p:nvPr/>
        </p:nvSpPr>
        <p:spPr>
          <a:xfrm>
            <a:off x="622756" y="5946755"/>
            <a:ext cx="256342" cy="320397"/>
          </a:xfrm>
          <a:prstGeom prst="rect">
            <a:avLst/>
          </a:prstGeom>
          <a:noFill/>
          <a:ln/>
        </p:spPr>
        <p:txBody>
          <a:bodyPr wrap="none" lIns="0" tIns="0" rIns="0" bIns="0" rtlCol="0" anchor="t"/>
          <a:lstStyle/>
          <a:p>
            <a:pPr marL="0" indent="0" algn="ctr">
              <a:lnSpc>
                <a:spcPts val="2000"/>
              </a:lnSpc>
              <a:buNone/>
            </a:pPr>
            <a:r>
              <a:rPr lang="en-US" sz="2000" b="1" dirty="0">
                <a:solidFill>
                  <a:srgbClr val="272525"/>
                </a:solidFill>
                <a:latin typeface="Barlow Bold" pitchFamily="34" charset="0"/>
                <a:ea typeface="Barlow Bold" pitchFamily="34" charset="-122"/>
                <a:cs typeface="Barlow Bold" pitchFamily="34" charset="-120"/>
              </a:rPr>
              <a:t>4</a:t>
            </a:r>
            <a:endParaRPr lang="en-US" sz="2000" dirty="0"/>
          </a:p>
        </p:txBody>
      </p:sp>
      <p:sp>
        <p:nvSpPr>
          <p:cNvPr id="23" name="Text 20"/>
          <p:cNvSpPr/>
          <p:nvPr/>
        </p:nvSpPr>
        <p:spPr>
          <a:xfrm>
            <a:off x="1562814" y="5903952"/>
            <a:ext cx="2393394" cy="267057"/>
          </a:xfrm>
          <a:prstGeom prst="rect">
            <a:avLst/>
          </a:prstGeom>
          <a:noFill/>
          <a:ln/>
        </p:spPr>
        <p:txBody>
          <a:bodyPr wrap="none" lIns="0" tIns="0" rIns="0" bIns="0" rtlCol="0" anchor="t"/>
          <a:lstStyle/>
          <a:p>
            <a:pPr marL="0" indent="0" algn="l">
              <a:lnSpc>
                <a:spcPts val="2100"/>
              </a:lnSpc>
              <a:buNone/>
            </a:pPr>
            <a:r>
              <a:rPr lang="en-US" sz="1650" b="1" dirty="0">
                <a:solidFill>
                  <a:srgbClr val="272525"/>
                </a:solidFill>
                <a:latin typeface="Barlow Bold" pitchFamily="34" charset="0"/>
                <a:ea typeface="Barlow Bold" pitchFamily="34" charset="-122"/>
                <a:cs typeface="Barlow Bold" pitchFamily="34" charset="-120"/>
              </a:rPr>
              <a:t>Chiffrement des données</a:t>
            </a:r>
            <a:endParaRPr lang="en-US" sz="1650" dirty="0"/>
          </a:p>
        </p:txBody>
      </p:sp>
      <p:sp>
        <p:nvSpPr>
          <p:cNvPr id="24" name="Text 21"/>
          <p:cNvSpPr/>
          <p:nvPr/>
        </p:nvSpPr>
        <p:spPr>
          <a:xfrm>
            <a:off x="1562814" y="6268403"/>
            <a:ext cx="7012900" cy="519589"/>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Montserrat" pitchFamily="34" charset="0"/>
                <a:ea typeface="Montserrat" pitchFamily="34" charset="-122"/>
                <a:cs typeface="Montserrat" pitchFamily="34" charset="-120"/>
              </a:rPr>
              <a:t>Implémentation du </a:t>
            </a:r>
            <a:r>
              <a:rPr lang="en-US" sz="1250" b="1" dirty="0">
                <a:solidFill>
                  <a:srgbClr val="272525"/>
                </a:solidFill>
                <a:latin typeface="Montserrat" pitchFamily="34" charset="0"/>
                <a:ea typeface="Montserrat" pitchFamily="34" charset="-122"/>
                <a:cs typeface="Montserrat" pitchFamily="34" charset="-120"/>
              </a:rPr>
              <a:t>chiffrement des données</a:t>
            </a:r>
            <a:r>
              <a:rPr lang="en-US" sz="1250" dirty="0">
                <a:solidFill>
                  <a:srgbClr val="272525"/>
                </a:solidFill>
                <a:latin typeface="Montserrat" pitchFamily="34" charset="0"/>
                <a:ea typeface="Montserrat" pitchFamily="34" charset="-122"/>
                <a:cs typeface="Montserrat" pitchFamily="34" charset="-120"/>
              </a:rPr>
              <a:t> pour assurer la confidentialité des informations médicales.</a:t>
            </a:r>
            <a:endParaRPr lang="en-US" sz="1250" dirty="0"/>
          </a:p>
        </p:txBody>
      </p:sp>
      <p:sp>
        <p:nvSpPr>
          <p:cNvPr id="25" name="Text 22"/>
          <p:cNvSpPr/>
          <p:nvPr/>
        </p:nvSpPr>
        <p:spPr>
          <a:xfrm>
            <a:off x="568285" y="7132915"/>
            <a:ext cx="8007429" cy="519589"/>
          </a:xfrm>
          <a:prstGeom prst="rect">
            <a:avLst/>
          </a:prstGeom>
          <a:noFill/>
          <a:ln/>
        </p:spPr>
        <p:txBody>
          <a:bodyPr wrap="square" lIns="0" tIns="0" rIns="0" bIns="0" rtlCol="0" anchor="t"/>
          <a:lstStyle/>
          <a:p>
            <a:pPr marL="0" indent="0" algn="l">
              <a:lnSpc>
                <a:spcPts val="2000"/>
              </a:lnSpc>
              <a:buNone/>
            </a:pPr>
            <a:r>
              <a:rPr lang="en-US" sz="1250" b="1" dirty="0">
                <a:solidFill>
                  <a:srgbClr val="272525"/>
                </a:solidFill>
                <a:latin typeface="Montserrat" pitchFamily="34" charset="0"/>
                <a:ea typeface="Montserrat" pitchFamily="34" charset="-122"/>
                <a:cs typeface="Montserrat" pitchFamily="34" charset="-120"/>
              </a:rPr>
              <a:t>Livrable</a:t>
            </a:r>
            <a:r>
              <a:rPr lang="en-US" sz="1250" dirty="0">
                <a:solidFill>
                  <a:srgbClr val="272525"/>
                </a:solidFill>
                <a:latin typeface="Montserrat" pitchFamily="34" charset="0"/>
                <a:ea typeface="Montserrat" pitchFamily="34" charset="-122"/>
                <a:cs typeface="Montserrat" pitchFamily="34" charset="-120"/>
              </a:rPr>
              <a:t> : Application fonctionnelle qui peut se connecter au bracelet et afficher les paramètres vitaux en temps réel.</a:t>
            </a:r>
            <a:endParaRPr lang="en-US" sz="1250" dirty="0"/>
          </a:p>
        </p:txBody>
      </p:sp>
      <p:sp>
        <p:nvSpPr>
          <p:cNvPr id="26" name="ZoneTexte 25">
            <a:extLst>
              <a:ext uri="{FF2B5EF4-FFF2-40B4-BE49-F238E27FC236}">
                <a16:creationId xmlns:a16="http://schemas.microsoft.com/office/drawing/2014/main" id="{71DE2CEF-255E-B864-9C4B-C160B9392502}"/>
              </a:ext>
            </a:extLst>
          </p:cNvPr>
          <p:cNvSpPr txBox="1"/>
          <p:nvPr/>
        </p:nvSpPr>
        <p:spPr>
          <a:xfrm>
            <a:off x="14020324" y="7558268"/>
            <a:ext cx="818468" cy="584775"/>
          </a:xfrm>
          <a:prstGeom prst="rect">
            <a:avLst/>
          </a:prstGeom>
          <a:noFill/>
        </p:spPr>
        <p:txBody>
          <a:bodyPr wrap="square" rtlCol="0">
            <a:spAutoFit/>
          </a:bodyPr>
          <a:lstStyle/>
          <a:p>
            <a:r>
              <a:rPr lang="fr-FR" sz="3200"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chemeClr val="accent1">
            <a:lumMod val="60000"/>
            <a:lumOff val="40000"/>
          </a:scheme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76712" y="606623"/>
            <a:ext cx="7963376" cy="1109901"/>
          </a:xfrm>
          <a:prstGeom prst="rect">
            <a:avLst/>
          </a:prstGeom>
          <a:noFill/>
          <a:ln/>
        </p:spPr>
        <p:txBody>
          <a:bodyPr wrap="square" lIns="0" tIns="0" rIns="0" bIns="0" rtlCol="0" anchor="t"/>
          <a:lstStyle/>
          <a:p>
            <a:pPr marL="0" indent="0" algn="l">
              <a:lnSpc>
                <a:spcPts val="4350"/>
              </a:lnSpc>
              <a:buNone/>
            </a:pPr>
            <a:r>
              <a:rPr lang="en-US" sz="3450" b="1" dirty="0">
                <a:solidFill>
                  <a:srgbClr val="7030A0"/>
                </a:solidFill>
                <a:latin typeface="Barlow Bold" pitchFamily="34" charset="0"/>
                <a:ea typeface="Barlow Bold" pitchFamily="34" charset="-122"/>
                <a:cs typeface="Barlow Bold" pitchFamily="34" charset="-120"/>
              </a:rPr>
              <a:t>Sprint 2 : Système de Rappels, Historique et Expérience Utilisateur</a:t>
            </a:r>
            <a:endParaRPr lang="en-US" sz="3450" dirty="0">
              <a:solidFill>
                <a:srgbClr val="7030A0"/>
              </a:solidFill>
            </a:endParaRPr>
          </a:p>
        </p:txBody>
      </p:sp>
      <p:pic>
        <p:nvPicPr>
          <p:cNvPr id="4" name="Image 1" descr="preencoded.png"/>
          <p:cNvPicPr>
            <a:picLocks noChangeAspect="1"/>
          </p:cNvPicPr>
          <p:nvPr/>
        </p:nvPicPr>
        <p:blipFill>
          <a:blip r:embed="rId4"/>
          <a:stretch>
            <a:fillRect/>
          </a:stretch>
        </p:blipFill>
        <p:spPr>
          <a:xfrm>
            <a:off x="6076712" y="1969532"/>
            <a:ext cx="674727" cy="674727"/>
          </a:xfrm>
          <a:prstGeom prst="rect">
            <a:avLst/>
          </a:prstGeom>
        </p:spPr>
      </p:pic>
      <p:sp>
        <p:nvSpPr>
          <p:cNvPr id="5" name="Text 1"/>
          <p:cNvSpPr/>
          <p:nvPr/>
        </p:nvSpPr>
        <p:spPr>
          <a:xfrm>
            <a:off x="6076712" y="2855119"/>
            <a:ext cx="3731895" cy="277416"/>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Barlow Bold" pitchFamily="34" charset="0"/>
                <a:ea typeface="Barlow Bold" pitchFamily="34" charset="-122"/>
                <a:cs typeface="Barlow Bold" pitchFamily="34" charset="-120"/>
              </a:rPr>
              <a:t>Rappels pour la prise de médicaments</a:t>
            </a:r>
            <a:endParaRPr lang="en-US" sz="1700" dirty="0"/>
          </a:p>
        </p:txBody>
      </p:sp>
      <p:sp>
        <p:nvSpPr>
          <p:cNvPr id="6" name="Text 2"/>
          <p:cNvSpPr/>
          <p:nvPr/>
        </p:nvSpPr>
        <p:spPr>
          <a:xfrm>
            <a:off x="6076712" y="3233738"/>
            <a:ext cx="3855125" cy="809744"/>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Montserrat" pitchFamily="34" charset="0"/>
                <a:ea typeface="Montserrat" pitchFamily="34" charset="-122"/>
                <a:cs typeface="Montserrat" pitchFamily="34" charset="-120"/>
              </a:rPr>
              <a:t>Implémentation d'un système de </a:t>
            </a:r>
            <a:r>
              <a:rPr lang="en-US" sz="1300" b="1" dirty="0">
                <a:solidFill>
                  <a:srgbClr val="272525"/>
                </a:solidFill>
                <a:latin typeface="Montserrat" pitchFamily="34" charset="0"/>
                <a:ea typeface="Montserrat" pitchFamily="34" charset="-122"/>
                <a:cs typeface="Montserrat" pitchFamily="34" charset="-120"/>
              </a:rPr>
              <a:t>rappels pour la prise de médicaments</a:t>
            </a:r>
            <a:r>
              <a:rPr lang="en-US" sz="1300" dirty="0">
                <a:solidFill>
                  <a:srgbClr val="272525"/>
                </a:solidFill>
                <a:latin typeface="Montserrat" pitchFamily="34" charset="0"/>
                <a:ea typeface="Montserrat" pitchFamily="34" charset="-122"/>
                <a:cs typeface="Montserrat" pitchFamily="34" charset="-120"/>
              </a:rPr>
              <a:t> (notifications et vibrations via l'application et le bracelet).</a:t>
            </a:r>
            <a:endParaRPr lang="en-US" sz="1300" dirty="0"/>
          </a:p>
        </p:txBody>
      </p:sp>
      <p:pic>
        <p:nvPicPr>
          <p:cNvPr id="7" name="Image 2" descr="preencoded.png"/>
          <p:cNvPicPr>
            <a:picLocks noChangeAspect="1"/>
          </p:cNvPicPr>
          <p:nvPr/>
        </p:nvPicPr>
        <p:blipFill>
          <a:blip r:embed="rId5"/>
          <a:stretch>
            <a:fillRect/>
          </a:stretch>
        </p:blipFill>
        <p:spPr>
          <a:xfrm>
            <a:off x="10184844" y="1969532"/>
            <a:ext cx="674727" cy="674727"/>
          </a:xfrm>
          <a:prstGeom prst="rect">
            <a:avLst/>
          </a:prstGeom>
        </p:spPr>
      </p:pic>
      <p:sp>
        <p:nvSpPr>
          <p:cNvPr id="8" name="Text 3"/>
          <p:cNvSpPr/>
          <p:nvPr/>
        </p:nvSpPr>
        <p:spPr>
          <a:xfrm>
            <a:off x="10184844" y="2855119"/>
            <a:ext cx="2317313" cy="277416"/>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Barlow Bold" pitchFamily="34" charset="0"/>
                <a:ea typeface="Barlow Bold" pitchFamily="34" charset="-122"/>
                <a:cs typeface="Barlow Bold" pitchFamily="34" charset="-120"/>
              </a:rPr>
              <a:t>Historique des mesures</a:t>
            </a:r>
            <a:endParaRPr lang="en-US" sz="1700" dirty="0"/>
          </a:p>
        </p:txBody>
      </p:sp>
      <p:sp>
        <p:nvSpPr>
          <p:cNvPr id="9" name="Text 4"/>
          <p:cNvSpPr/>
          <p:nvPr/>
        </p:nvSpPr>
        <p:spPr>
          <a:xfrm>
            <a:off x="10184844" y="3233738"/>
            <a:ext cx="3855244" cy="1079659"/>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Montserrat" pitchFamily="34" charset="0"/>
                <a:ea typeface="Montserrat" pitchFamily="34" charset="-122"/>
                <a:cs typeface="Montserrat" pitchFamily="34" charset="-120"/>
              </a:rPr>
              <a:t>Développement d'un module </a:t>
            </a:r>
            <a:r>
              <a:rPr lang="en-US" sz="1300" b="1" dirty="0">
                <a:solidFill>
                  <a:srgbClr val="272525"/>
                </a:solidFill>
                <a:latin typeface="Montserrat" pitchFamily="34" charset="0"/>
                <a:ea typeface="Montserrat" pitchFamily="34" charset="-122"/>
                <a:cs typeface="Montserrat" pitchFamily="34" charset="-120"/>
              </a:rPr>
              <a:t>d'historique des mesures</a:t>
            </a:r>
            <a:r>
              <a:rPr lang="en-US" sz="1300" dirty="0">
                <a:solidFill>
                  <a:srgbClr val="272525"/>
                </a:solidFill>
                <a:latin typeface="Montserrat" pitchFamily="34" charset="0"/>
                <a:ea typeface="Montserrat" pitchFamily="34" charset="-122"/>
                <a:cs typeface="Montserrat" pitchFamily="34" charset="-120"/>
              </a:rPr>
              <a:t> pour que les utilisateurs et les médecins puissent suivre l'évolution des paramètres vitaux.</a:t>
            </a:r>
            <a:endParaRPr lang="en-US" sz="1300" dirty="0"/>
          </a:p>
        </p:txBody>
      </p:sp>
      <p:pic>
        <p:nvPicPr>
          <p:cNvPr id="10" name="Image 3" descr="preencoded.png"/>
          <p:cNvPicPr>
            <a:picLocks noChangeAspect="1"/>
          </p:cNvPicPr>
          <p:nvPr/>
        </p:nvPicPr>
        <p:blipFill>
          <a:blip r:embed="rId6"/>
          <a:stretch>
            <a:fillRect/>
          </a:stretch>
        </p:blipFill>
        <p:spPr>
          <a:xfrm>
            <a:off x="6076712" y="4819412"/>
            <a:ext cx="674727" cy="674727"/>
          </a:xfrm>
          <a:prstGeom prst="rect">
            <a:avLst/>
          </a:prstGeom>
        </p:spPr>
      </p:pic>
      <p:sp>
        <p:nvSpPr>
          <p:cNvPr id="11" name="Text 5"/>
          <p:cNvSpPr/>
          <p:nvPr/>
        </p:nvSpPr>
        <p:spPr>
          <a:xfrm>
            <a:off x="6076712" y="5704999"/>
            <a:ext cx="2859405" cy="277416"/>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Barlow Bold" pitchFamily="34" charset="0"/>
                <a:ea typeface="Barlow Bold" pitchFamily="34" charset="-122"/>
                <a:cs typeface="Barlow Bold" pitchFamily="34" charset="-120"/>
              </a:rPr>
              <a:t>Mode sombre et accessibilité</a:t>
            </a:r>
            <a:endParaRPr lang="en-US" sz="1700" dirty="0"/>
          </a:p>
        </p:txBody>
      </p:sp>
      <p:sp>
        <p:nvSpPr>
          <p:cNvPr id="12" name="Text 6"/>
          <p:cNvSpPr/>
          <p:nvPr/>
        </p:nvSpPr>
        <p:spPr>
          <a:xfrm>
            <a:off x="6076712" y="6083618"/>
            <a:ext cx="3855125" cy="809744"/>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Montserrat" pitchFamily="34" charset="0"/>
                <a:ea typeface="Montserrat" pitchFamily="34" charset="-122"/>
                <a:cs typeface="Montserrat" pitchFamily="34" charset="-120"/>
              </a:rPr>
              <a:t>Ajout d'un </a:t>
            </a:r>
            <a:r>
              <a:rPr lang="en-US" sz="1300" b="1" dirty="0">
                <a:solidFill>
                  <a:srgbClr val="272525"/>
                </a:solidFill>
                <a:latin typeface="Montserrat" pitchFamily="34" charset="0"/>
                <a:ea typeface="Montserrat" pitchFamily="34" charset="-122"/>
                <a:cs typeface="Montserrat" pitchFamily="34" charset="-120"/>
              </a:rPr>
              <a:t>mode sombre</a:t>
            </a:r>
            <a:r>
              <a:rPr lang="en-US" sz="1300" dirty="0">
                <a:solidFill>
                  <a:srgbClr val="272525"/>
                </a:solidFill>
                <a:latin typeface="Montserrat" pitchFamily="34" charset="0"/>
                <a:ea typeface="Montserrat" pitchFamily="34" charset="-122"/>
                <a:cs typeface="Montserrat" pitchFamily="34" charset="-120"/>
              </a:rPr>
              <a:t> et d'options d'</a:t>
            </a:r>
            <a:r>
              <a:rPr lang="en-US" sz="1300" b="1" dirty="0">
                <a:solidFill>
                  <a:srgbClr val="272525"/>
                </a:solidFill>
                <a:latin typeface="Montserrat" pitchFamily="34" charset="0"/>
                <a:ea typeface="Montserrat" pitchFamily="34" charset="-122"/>
                <a:cs typeface="Montserrat" pitchFamily="34" charset="-120"/>
              </a:rPr>
              <a:t>accessibilité</a:t>
            </a:r>
            <a:r>
              <a:rPr lang="en-US" sz="1300" dirty="0">
                <a:solidFill>
                  <a:srgbClr val="272525"/>
                </a:solidFill>
                <a:latin typeface="Montserrat" pitchFamily="34" charset="0"/>
                <a:ea typeface="Montserrat" pitchFamily="34" charset="-122"/>
                <a:cs typeface="Montserrat" pitchFamily="34" charset="-120"/>
              </a:rPr>
              <a:t> pour rendre l'application plus agréable et inclusive.</a:t>
            </a:r>
            <a:endParaRPr lang="en-US" sz="1300" dirty="0"/>
          </a:p>
        </p:txBody>
      </p:sp>
      <p:pic>
        <p:nvPicPr>
          <p:cNvPr id="13" name="Image 4" descr="preencoded.png"/>
          <p:cNvPicPr>
            <a:picLocks noChangeAspect="1"/>
          </p:cNvPicPr>
          <p:nvPr/>
        </p:nvPicPr>
        <p:blipFill>
          <a:blip r:embed="rId7"/>
          <a:stretch>
            <a:fillRect/>
          </a:stretch>
        </p:blipFill>
        <p:spPr>
          <a:xfrm>
            <a:off x="10184844" y="4819412"/>
            <a:ext cx="674727" cy="674727"/>
          </a:xfrm>
          <a:prstGeom prst="rect">
            <a:avLst/>
          </a:prstGeom>
        </p:spPr>
      </p:pic>
      <p:sp>
        <p:nvSpPr>
          <p:cNvPr id="14" name="Text 7"/>
          <p:cNvSpPr/>
          <p:nvPr/>
        </p:nvSpPr>
        <p:spPr>
          <a:xfrm>
            <a:off x="10184844" y="5704999"/>
            <a:ext cx="2995613" cy="277416"/>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Barlow Bold" pitchFamily="34" charset="0"/>
                <a:ea typeface="Barlow Bold" pitchFamily="34" charset="-122"/>
                <a:cs typeface="Barlow Bold" pitchFamily="34" charset="-120"/>
              </a:rPr>
              <a:t>Gestion des profils utilisateurs</a:t>
            </a:r>
            <a:endParaRPr lang="en-US" sz="1700" dirty="0"/>
          </a:p>
        </p:txBody>
      </p:sp>
      <p:sp>
        <p:nvSpPr>
          <p:cNvPr id="15" name="Text 8"/>
          <p:cNvSpPr/>
          <p:nvPr/>
        </p:nvSpPr>
        <p:spPr>
          <a:xfrm>
            <a:off x="10184844" y="6083618"/>
            <a:ext cx="3855244" cy="809744"/>
          </a:xfrm>
          <a:prstGeom prst="rect">
            <a:avLst/>
          </a:prstGeom>
          <a:noFill/>
          <a:ln/>
        </p:spPr>
        <p:txBody>
          <a:bodyPr wrap="square" lIns="0" tIns="0" rIns="0" bIns="0" rtlCol="0" anchor="t"/>
          <a:lstStyle/>
          <a:p>
            <a:pPr marL="0" indent="0" algn="l">
              <a:lnSpc>
                <a:spcPts val="2100"/>
              </a:lnSpc>
              <a:buNone/>
            </a:pPr>
            <a:r>
              <a:rPr lang="en-US" sz="1300" dirty="0">
                <a:solidFill>
                  <a:srgbClr val="272525"/>
                </a:solidFill>
                <a:latin typeface="Montserrat" pitchFamily="34" charset="0"/>
                <a:ea typeface="Montserrat" pitchFamily="34" charset="-122"/>
                <a:cs typeface="Montserrat" pitchFamily="34" charset="-120"/>
              </a:rPr>
              <a:t>Développement de la </a:t>
            </a:r>
            <a:r>
              <a:rPr lang="en-US" sz="1300" b="1" dirty="0">
                <a:solidFill>
                  <a:srgbClr val="272525"/>
                </a:solidFill>
                <a:latin typeface="Montserrat" pitchFamily="34" charset="0"/>
                <a:ea typeface="Montserrat" pitchFamily="34" charset="-122"/>
                <a:cs typeface="Montserrat" pitchFamily="34" charset="-120"/>
              </a:rPr>
              <a:t>gestion des profils utilisateurs</a:t>
            </a:r>
            <a:r>
              <a:rPr lang="en-US" sz="1300" dirty="0">
                <a:solidFill>
                  <a:srgbClr val="272525"/>
                </a:solidFill>
                <a:latin typeface="Montserrat" pitchFamily="34" charset="0"/>
                <a:ea typeface="Montserrat" pitchFamily="34" charset="-122"/>
                <a:cs typeface="Montserrat" pitchFamily="34" charset="-120"/>
              </a:rPr>
              <a:t> (patients, proches, médecins) avec des accès différenciés.</a:t>
            </a:r>
            <a:endParaRPr lang="en-US" sz="1300" dirty="0"/>
          </a:p>
        </p:txBody>
      </p:sp>
      <p:sp>
        <p:nvSpPr>
          <p:cNvPr id="16" name="Text 9"/>
          <p:cNvSpPr/>
          <p:nvPr/>
        </p:nvSpPr>
        <p:spPr>
          <a:xfrm>
            <a:off x="6076712" y="7083028"/>
            <a:ext cx="7963376" cy="539829"/>
          </a:xfrm>
          <a:prstGeom prst="rect">
            <a:avLst/>
          </a:prstGeom>
          <a:noFill/>
          <a:ln/>
        </p:spPr>
        <p:txBody>
          <a:bodyPr wrap="square" lIns="0" tIns="0" rIns="0" bIns="0" rtlCol="0" anchor="t"/>
          <a:lstStyle/>
          <a:p>
            <a:pPr marL="0" indent="0" algn="l">
              <a:lnSpc>
                <a:spcPts val="2100"/>
              </a:lnSpc>
              <a:buNone/>
            </a:pPr>
            <a:r>
              <a:rPr lang="en-US" sz="1300" b="1" dirty="0">
                <a:solidFill>
                  <a:srgbClr val="272525"/>
                </a:solidFill>
                <a:latin typeface="Montserrat" pitchFamily="34" charset="0"/>
                <a:ea typeface="Montserrat" pitchFamily="34" charset="-122"/>
                <a:cs typeface="Montserrat" pitchFamily="34" charset="-120"/>
              </a:rPr>
              <a:t>Livrable</a:t>
            </a:r>
            <a:r>
              <a:rPr lang="en-US" sz="1300" dirty="0">
                <a:solidFill>
                  <a:srgbClr val="272525"/>
                </a:solidFill>
                <a:latin typeface="Montserrat" pitchFamily="34" charset="0"/>
                <a:ea typeface="Montserrat" pitchFamily="34" charset="-122"/>
                <a:cs typeface="Montserrat" pitchFamily="34" charset="-120"/>
              </a:rPr>
              <a:t> : Application améliorée avec gestion des rappels, historique des mesures et interface plus ergonomique.</a:t>
            </a:r>
            <a:endParaRPr lang="en-US" sz="1300" dirty="0"/>
          </a:p>
        </p:txBody>
      </p:sp>
      <p:sp>
        <p:nvSpPr>
          <p:cNvPr id="17" name="ZoneTexte 16">
            <a:extLst>
              <a:ext uri="{FF2B5EF4-FFF2-40B4-BE49-F238E27FC236}">
                <a16:creationId xmlns:a16="http://schemas.microsoft.com/office/drawing/2014/main" id="{4DE4F508-873D-5D56-3DE7-0BF5A45BE91D}"/>
              </a:ext>
            </a:extLst>
          </p:cNvPr>
          <p:cNvSpPr txBox="1"/>
          <p:nvPr/>
        </p:nvSpPr>
        <p:spPr>
          <a:xfrm>
            <a:off x="14040088" y="7661499"/>
            <a:ext cx="601447" cy="584775"/>
          </a:xfrm>
          <a:prstGeom prst="rect">
            <a:avLst/>
          </a:prstGeom>
          <a:noFill/>
        </p:spPr>
        <p:txBody>
          <a:bodyPr wrap="none" rtlCol="0">
            <a:spAutoFit/>
          </a:bodyPr>
          <a:lstStyle/>
          <a:p>
            <a:r>
              <a:rPr lang="fr-FR" sz="3200"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chemeClr val="accent1">
            <a:lumMod val="60000"/>
            <a:lumOff val="40000"/>
          </a:scheme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6481" y="739973"/>
            <a:ext cx="7843838" cy="1222058"/>
          </a:xfrm>
          <a:prstGeom prst="rect">
            <a:avLst/>
          </a:prstGeom>
          <a:noFill/>
          <a:ln/>
        </p:spPr>
        <p:txBody>
          <a:bodyPr wrap="square" lIns="0" tIns="0" rIns="0" bIns="0" rtlCol="0" anchor="t"/>
          <a:lstStyle/>
          <a:p>
            <a:pPr marL="0" indent="0" algn="l">
              <a:lnSpc>
                <a:spcPts val="4800"/>
              </a:lnSpc>
              <a:buNone/>
            </a:pPr>
            <a:r>
              <a:rPr lang="en-US" sz="3800" b="1" dirty="0">
                <a:solidFill>
                  <a:srgbClr val="7030A0"/>
                </a:solidFill>
                <a:latin typeface="Barlow Bold" pitchFamily="34" charset="0"/>
                <a:ea typeface="Barlow Bold" pitchFamily="34" charset="-122"/>
                <a:cs typeface="Barlow Bold" pitchFamily="34" charset="-120"/>
              </a:rPr>
              <a:t>Sprint 3 : Détection des Anomalies et Alertes Automatiques</a:t>
            </a:r>
            <a:endParaRPr lang="en-US" sz="3800" dirty="0">
              <a:solidFill>
                <a:srgbClr val="7030A0"/>
              </a:solidFill>
            </a:endParaRPr>
          </a:p>
        </p:txBody>
      </p:sp>
      <p:pic>
        <p:nvPicPr>
          <p:cNvPr id="4" name="Image 1" descr="preencoded.png"/>
          <p:cNvPicPr>
            <a:picLocks noChangeAspect="1"/>
          </p:cNvPicPr>
          <p:nvPr/>
        </p:nvPicPr>
        <p:blipFill>
          <a:blip r:embed="rId4"/>
          <a:stretch>
            <a:fillRect/>
          </a:stretch>
        </p:blipFill>
        <p:spPr>
          <a:xfrm>
            <a:off x="6136481" y="2240637"/>
            <a:ext cx="928688" cy="1679972"/>
          </a:xfrm>
          <a:prstGeom prst="rect">
            <a:avLst/>
          </a:prstGeom>
        </p:spPr>
      </p:pic>
      <p:sp>
        <p:nvSpPr>
          <p:cNvPr id="5" name="Text 1"/>
          <p:cNvSpPr/>
          <p:nvPr/>
        </p:nvSpPr>
        <p:spPr>
          <a:xfrm>
            <a:off x="7343775" y="2426375"/>
            <a:ext cx="4230410" cy="305514"/>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Barlow Bold" pitchFamily="34" charset="0"/>
                <a:ea typeface="Barlow Bold" pitchFamily="34" charset="-122"/>
                <a:cs typeface="Barlow Bold" pitchFamily="34" charset="-120"/>
              </a:rPr>
              <a:t>Algorithme de détection des anomalies</a:t>
            </a:r>
            <a:endParaRPr lang="en-US" sz="1900" dirty="0"/>
          </a:p>
        </p:txBody>
      </p:sp>
      <p:sp>
        <p:nvSpPr>
          <p:cNvPr id="6" name="Text 2"/>
          <p:cNvSpPr/>
          <p:nvPr/>
        </p:nvSpPr>
        <p:spPr>
          <a:xfrm>
            <a:off x="7343775" y="2843332"/>
            <a:ext cx="6636544" cy="891540"/>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Montserrat" pitchFamily="34" charset="0"/>
                <a:ea typeface="Montserrat" pitchFamily="34" charset="-122"/>
                <a:cs typeface="Montserrat" pitchFamily="34" charset="-120"/>
              </a:rPr>
              <a:t>Développement d'un </a:t>
            </a:r>
            <a:r>
              <a:rPr lang="en-US" sz="1450" b="1" dirty="0">
                <a:solidFill>
                  <a:srgbClr val="272525"/>
                </a:solidFill>
                <a:latin typeface="Montserrat" pitchFamily="34" charset="0"/>
                <a:ea typeface="Montserrat" pitchFamily="34" charset="-122"/>
                <a:cs typeface="Montserrat" pitchFamily="34" charset="-120"/>
              </a:rPr>
              <a:t>algorithme de détection des anomalies</a:t>
            </a:r>
            <a:r>
              <a:rPr lang="en-US" sz="1450" dirty="0">
                <a:solidFill>
                  <a:srgbClr val="272525"/>
                </a:solidFill>
                <a:latin typeface="Montserrat" pitchFamily="34" charset="0"/>
                <a:ea typeface="Montserrat" pitchFamily="34" charset="-122"/>
                <a:cs typeface="Montserrat" pitchFamily="34" charset="-120"/>
              </a:rPr>
              <a:t> pour identifier des situations critiques telles que l'hypoglycémie, une crise cardiaque ou une chute soudaine.</a:t>
            </a:r>
            <a:endParaRPr lang="en-US" sz="1450" dirty="0"/>
          </a:p>
        </p:txBody>
      </p:sp>
      <p:pic>
        <p:nvPicPr>
          <p:cNvPr id="7" name="Image 2" descr="preencoded.png"/>
          <p:cNvPicPr>
            <a:picLocks noChangeAspect="1"/>
          </p:cNvPicPr>
          <p:nvPr/>
        </p:nvPicPr>
        <p:blipFill>
          <a:blip r:embed="rId5"/>
          <a:stretch>
            <a:fillRect/>
          </a:stretch>
        </p:blipFill>
        <p:spPr>
          <a:xfrm>
            <a:off x="6136481" y="3920609"/>
            <a:ext cx="928688" cy="1382792"/>
          </a:xfrm>
          <a:prstGeom prst="rect">
            <a:avLst/>
          </a:prstGeom>
        </p:spPr>
      </p:pic>
      <p:sp>
        <p:nvSpPr>
          <p:cNvPr id="8" name="Text 3"/>
          <p:cNvSpPr/>
          <p:nvPr/>
        </p:nvSpPr>
        <p:spPr>
          <a:xfrm>
            <a:off x="7343775" y="4106347"/>
            <a:ext cx="3480078" cy="305514"/>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Barlow Bold" pitchFamily="34" charset="0"/>
                <a:ea typeface="Barlow Bold" pitchFamily="34" charset="-122"/>
                <a:cs typeface="Barlow Bold" pitchFamily="34" charset="-120"/>
              </a:rPr>
              <a:t>Système d'alertes automatiques</a:t>
            </a:r>
            <a:endParaRPr lang="en-US" sz="1900" dirty="0"/>
          </a:p>
        </p:txBody>
      </p:sp>
      <p:sp>
        <p:nvSpPr>
          <p:cNvPr id="9" name="Text 4"/>
          <p:cNvSpPr/>
          <p:nvPr/>
        </p:nvSpPr>
        <p:spPr>
          <a:xfrm>
            <a:off x="7343775" y="4523303"/>
            <a:ext cx="6636544" cy="594360"/>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Montserrat" pitchFamily="34" charset="0"/>
                <a:ea typeface="Montserrat" pitchFamily="34" charset="-122"/>
                <a:cs typeface="Montserrat" pitchFamily="34" charset="-120"/>
              </a:rPr>
              <a:t>Mise en place du système d'</a:t>
            </a:r>
            <a:r>
              <a:rPr lang="en-US" sz="1450" b="1" dirty="0">
                <a:solidFill>
                  <a:srgbClr val="272525"/>
                </a:solidFill>
                <a:latin typeface="Montserrat" pitchFamily="34" charset="0"/>
                <a:ea typeface="Montserrat" pitchFamily="34" charset="-122"/>
                <a:cs typeface="Montserrat" pitchFamily="34" charset="-120"/>
              </a:rPr>
              <a:t>alertes automatiques</a:t>
            </a:r>
            <a:r>
              <a:rPr lang="en-US" sz="1450" dirty="0">
                <a:solidFill>
                  <a:srgbClr val="272525"/>
                </a:solidFill>
                <a:latin typeface="Montserrat" pitchFamily="34" charset="0"/>
                <a:ea typeface="Montserrat" pitchFamily="34" charset="-122"/>
                <a:cs typeface="Montserrat" pitchFamily="34" charset="-120"/>
              </a:rPr>
              <a:t> envoyées aux proches et aux médecins en cas de détection d'une crise.</a:t>
            </a:r>
            <a:endParaRPr lang="en-US" sz="1450" dirty="0"/>
          </a:p>
        </p:txBody>
      </p:sp>
      <p:pic>
        <p:nvPicPr>
          <p:cNvPr id="10" name="Image 3" descr="preencoded.png"/>
          <p:cNvPicPr>
            <a:picLocks noChangeAspect="1"/>
          </p:cNvPicPr>
          <p:nvPr/>
        </p:nvPicPr>
        <p:blipFill>
          <a:blip r:embed="rId6"/>
          <a:stretch>
            <a:fillRect/>
          </a:stretch>
        </p:blipFill>
        <p:spPr>
          <a:xfrm>
            <a:off x="6136481" y="5303401"/>
            <a:ext cx="928688" cy="1382792"/>
          </a:xfrm>
          <a:prstGeom prst="rect">
            <a:avLst/>
          </a:prstGeom>
        </p:spPr>
      </p:pic>
      <p:sp>
        <p:nvSpPr>
          <p:cNvPr id="11" name="Text 5"/>
          <p:cNvSpPr/>
          <p:nvPr/>
        </p:nvSpPr>
        <p:spPr>
          <a:xfrm>
            <a:off x="7343775" y="5489138"/>
            <a:ext cx="2444115" cy="305514"/>
          </a:xfrm>
          <a:prstGeom prst="rect">
            <a:avLst/>
          </a:prstGeom>
          <a:noFill/>
          <a:ln/>
        </p:spPr>
        <p:txBody>
          <a:bodyPr wrap="none" lIns="0" tIns="0" rIns="0" bIns="0" rtlCol="0" anchor="t"/>
          <a:lstStyle/>
          <a:p>
            <a:pPr marL="0" indent="0" algn="l">
              <a:lnSpc>
                <a:spcPts val="2400"/>
              </a:lnSpc>
              <a:buNone/>
            </a:pPr>
            <a:r>
              <a:rPr lang="en-US" sz="1900" b="1" dirty="0">
                <a:solidFill>
                  <a:srgbClr val="272525"/>
                </a:solidFill>
                <a:latin typeface="Barlow Bold" pitchFamily="34" charset="0"/>
                <a:ea typeface="Barlow Bold" pitchFamily="34" charset="-122"/>
                <a:cs typeface="Barlow Bold" pitchFamily="34" charset="-120"/>
              </a:rPr>
              <a:t>Bouton SOS</a:t>
            </a:r>
            <a:endParaRPr lang="en-US" sz="1900" dirty="0"/>
          </a:p>
        </p:txBody>
      </p:sp>
      <p:sp>
        <p:nvSpPr>
          <p:cNvPr id="12" name="Text 6"/>
          <p:cNvSpPr/>
          <p:nvPr/>
        </p:nvSpPr>
        <p:spPr>
          <a:xfrm>
            <a:off x="7343775" y="5906095"/>
            <a:ext cx="6636544" cy="594360"/>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Montserrat" pitchFamily="34" charset="0"/>
                <a:ea typeface="Montserrat" pitchFamily="34" charset="-122"/>
                <a:cs typeface="Montserrat" pitchFamily="34" charset="-120"/>
              </a:rPr>
              <a:t>Intégration d'un </a:t>
            </a:r>
            <a:r>
              <a:rPr lang="en-US" sz="1450" b="1" dirty="0">
                <a:solidFill>
                  <a:srgbClr val="272525"/>
                </a:solidFill>
                <a:latin typeface="Montserrat" pitchFamily="34" charset="0"/>
                <a:ea typeface="Montserrat" pitchFamily="34" charset="-122"/>
                <a:cs typeface="Montserrat" pitchFamily="34" charset="-120"/>
              </a:rPr>
              <a:t>bouton SOS</a:t>
            </a:r>
            <a:r>
              <a:rPr lang="en-US" sz="1450" dirty="0">
                <a:solidFill>
                  <a:srgbClr val="272525"/>
                </a:solidFill>
                <a:latin typeface="Montserrat" pitchFamily="34" charset="0"/>
                <a:ea typeface="Montserrat" pitchFamily="34" charset="-122"/>
                <a:cs typeface="Montserrat" pitchFamily="34" charset="-120"/>
              </a:rPr>
              <a:t> permettant aux patients d'envoyer une alerte manuelle en cas de besoin urgent.</a:t>
            </a:r>
            <a:endParaRPr lang="en-US" sz="1450" dirty="0"/>
          </a:p>
        </p:txBody>
      </p:sp>
      <p:sp>
        <p:nvSpPr>
          <p:cNvPr id="13" name="Text 7"/>
          <p:cNvSpPr/>
          <p:nvPr/>
        </p:nvSpPr>
        <p:spPr>
          <a:xfrm>
            <a:off x="6136481" y="6895148"/>
            <a:ext cx="7843838" cy="594360"/>
          </a:xfrm>
          <a:prstGeom prst="rect">
            <a:avLst/>
          </a:prstGeom>
          <a:noFill/>
          <a:ln/>
        </p:spPr>
        <p:txBody>
          <a:bodyPr wrap="square" lIns="0" tIns="0" rIns="0" bIns="0" rtlCol="0" anchor="t"/>
          <a:lstStyle/>
          <a:p>
            <a:pPr marL="0" indent="0" algn="l">
              <a:lnSpc>
                <a:spcPts val="2300"/>
              </a:lnSpc>
              <a:buNone/>
            </a:pPr>
            <a:r>
              <a:rPr lang="en-US" sz="1450" b="1" dirty="0">
                <a:solidFill>
                  <a:srgbClr val="272525"/>
                </a:solidFill>
                <a:latin typeface="Montserrat" pitchFamily="34" charset="0"/>
                <a:ea typeface="Montserrat" pitchFamily="34" charset="-122"/>
                <a:cs typeface="Montserrat" pitchFamily="34" charset="-120"/>
              </a:rPr>
              <a:t>Livrable</a:t>
            </a:r>
            <a:r>
              <a:rPr lang="en-US" sz="1450" dirty="0">
                <a:solidFill>
                  <a:srgbClr val="272525"/>
                </a:solidFill>
                <a:latin typeface="Montserrat" pitchFamily="34" charset="0"/>
                <a:ea typeface="Montserrat" pitchFamily="34" charset="-122"/>
                <a:cs typeface="Montserrat" pitchFamily="34" charset="-120"/>
              </a:rPr>
              <a:t> : Application capable de détecter les anomalies médicales et d'envoyer des alertes automatiques ou manuelles.</a:t>
            </a:r>
            <a:endParaRPr lang="en-US" sz="1450" dirty="0"/>
          </a:p>
        </p:txBody>
      </p:sp>
      <p:sp>
        <p:nvSpPr>
          <p:cNvPr id="14" name="ZoneTexte 13">
            <a:extLst>
              <a:ext uri="{FF2B5EF4-FFF2-40B4-BE49-F238E27FC236}">
                <a16:creationId xmlns:a16="http://schemas.microsoft.com/office/drawing/2014/main" id="{14775346-0B1D-3354-6A5F-D86ACCE29813}"/>
              </a:ext>
            </a:extLst>
          </p:cNvPr>
          <p:cNvSpPr txBox="1"/>
          <p:nvPr/>
        </p:nvSpPr>
        <p:spPr>
          <a:xfrm>
            <a:off x="14028953" y="7644825"/>
            <a:ext cx="601447" cy="584775"/>
          </a:xfrm>
          <a:prstGeom prst="rect">
            <a:avLst/>
          </a:prstGeom>
          <a:noFill/>
        </p:spPr>
        <p:txBody>
          <a:bodyPr wrap="none" rtlCol="0">
            <a:spAutoFit/>
          </a:bodyPr>
          <a:lstStyle/>
          <a:p>
            <a:r>
              <a:rPr lang="fr-FR" sz="3200" dirty="0"/>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chemeClr val="accent1">
            <a:lumMod val="60000"/>
            <a:lumOff val="40000"/>
          </a:scheme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48745" y="654487"/>
            <a:ext cx="7819311" cy="1244918"/>
          </a:xfrm>
          <a:prstGeom prst="rect">
            <a:avLst/>
          </a:prstGeom>
          <a:noFill/>
          <a:ln/>
        </p:spPr>
        <p:txBody>
          <a:bodyPr wrap="square" lIns="0" tIns="0" rIns="0" bIns="0" rtlCol="0" anchor="t"/>
          <a:lstStyle/>
          <a:p>
            <a:pPr marL="0" indent="0" algn="l">
              <a:lnSpc>
                <a:spcPts val="4900"/>
              </a:lnSpc>
              <a:buNone/>
            </a:pPr>
            <a:r>
              <a:rPr lang="en-US" sz="3900" b="1" dirty="0">
                <a:solidFill>
                  <a:srgbClr val="7030A0"/>
                </a:solidFill>
                <a:latin typeface="Barlow Bold" pitchFamily="34" charset="0"/>
                <a:ea typeface="Barlow Bold" pitchFamily="34" charset="-122"/>
                <a:cs typeface="Barlow Bold" pitchFamily="34" charset="-120"/>
              </a:rPr>
              <a:t>Sprint 4 : Tests, Optimisation et Lancement Pilote</a:t>
            </a:r>
            <a:endParaRPr lang="en-US" sz="3900" dirty="0">
              <a:solidFill>
                <a:srgbClr val="7030A0"/>
              </a:solidFill>
            </a:endParaRPr>
          </a:p>
        </p:txBody>
      </p:sp>
      <p:sp>
        <p:nvSpPr>
          <p:cNvPr id="4" name="Shape 1"/>
          <p:cNvSpPr/>
          <p:nvPr/>
        </p:nvSpPr>
        <p:spPr>
          <a:xfrm>
            <a:off x="6148745" y="2183249"/>
            <a:ext cx="141923" cy="1029891"/>
          </a:xfrm>
          <a:prstGeom prst="roundRect">
            <a:avLst>
              <a:gd name="adj" fmla="val 120011"/>
            </a:avLst>
          </a:prstGeom>
          <a:solidFill>
            <a:srgbClr val="EEEFF5"/>
          </a:solidFill>
          <a:ln/>
          <a:effectLst>
            <a:outerShdw blurRad="46990" dist="22860" dir="13500000" algn="bl" rotWithShape="0">
              <a:srgbClr val="FFFFFF">
                <a:alpha val="70000"/>
              </a:srgbClr>
            </a:outerShdw>
          </a:effectLst>
        </p:spPr>
      </p:sp>
      <p:sp>
        <p:nvSpPr>
          <p:cNvPr id="5" name="Text 2"/>
          <p:cNvSpPr/>
          <p:nvPr/>
        </p:nvSpPr>
        <p:spPr>
          <a:xfrm>
            <a:off x="6574512" y="2183249"/>
            <a:ext cx="2490073" cy="311110"/>
          </a:xfrm>
          <a:prstGeom prst="rect">
            <a:avLst/>
          </a:prstGeom>
          <a:noFill/>
          <a:ln/>
        </p:spPr>
        <p:txBody>
          <a:bodyPr wrap="none" lIns="0" tIns="0" rIns="0" bIns="0" rtlCol="0" anchor="t"/>
          <a:lstStyle/>
          <a:p>
            <a:pPr marL="0" indent="0" algn="l">
              <a:lnSpc>
                <a:spcPts val="2450"/>
              </a:lnSpc>
              <a:buNone/>
            </a:pPr>
            <a:r>
              <a:rPr lang="en-US" sz="2400" b="1" dirty="0">
                <a:solidFill>
                  <a:srgbClr val="272525"/>
                </a:solidFill>
                <a:latin typeface="Barlow Bold" pitchFamily="34" charset="0"/>
                <a:ea typeface="Barlow Bold" pitchFamily="34" charset="-122"/>
                <a:cs typeface="Barlow Bold" pitchFamily="34" charset="-120"/>
              </a:rPr>
              <a:t>Tests utilisateurs</a:t>
            </a:r>
            <a:endParaRPr lang="en-US" sz="2400" dirty="0"/>
          </a:p>
        </p:txBody>
      </p:sp>
      <p:sp>
        <p:nvSpPr>
          <p:cNvPr id="6" name="Text 3"/>
          <p:cNvSpPr/>
          <p:nvPr/>
        </p:nvSpPr>
        <p:spPr>
          <a:xfrm>
            <a:off x="6574512" y="2607826"/>
            <a:ext cx="7393543" cy="605314"/>
          </a:xfrm>
          <a:prstGeom prst="rect">
            <a:avLst/>
          </a:prstGeom>
          <a:noFill/>
          <a:ln/>
        </p:spPr>
        <p:txBody>
          <a:bodyPr wrap="square" lIns="0" tIns="0" rIns="0" bIns="0" rtlCol="0" anchor="t"/>
          <a:lstStyle/>
          <a:p>
            <a:pPr marL="0" indent="0" algn="l">
              <a:lnSpc>
                <a:spcPts val="2350"/>
              </a:lnSpc>
              <a:buNone/>
            </a:pPr>
            <a:r>
              <a:rPr lang="en-US" sz="1600" dirty="0">
                <a:solidFill>
                  <a:srgbClr val="272525"/>
                </a:solidFill>
                <a:latin typeface="Montserrat" pitchFamily="34" charset="0"/>
                <a:ea typeface="Montserrat" pitchFamily="34" charset="-122"/>
                <a:cs typeface="Montserrat" pitchFamily="34" charset="-120"/>
              </a:rPr>
              <a:t>Réalisation de </a:t>
            </a:r>
            <a:r>
              <a:rPr lang="en-US" sz="1600" b="1" dirty="0">
                <a:solidFill>
                  <a:srgbClr val="272525"/>
                </a:solidFill>
                <a:latin typeface="Montserrat" pitchFamily="34" charset="0"/>
                <a:ea typeface="Montserrat" pitchFamily="34" charset="-122"/>
                <a:cs typeface="Montserrat" pitchFamily="34" charset="-120"/>
              </a:rPr>
              <a:t>tests utilisateurs</a:t>
            </a:r>
            <a:r>
              <a:rPr lang="en-US" sz="1600" dirty="0">
                <a:solidFill>
                  <a:srgbClr val="272525"/>
                </a:solidFill>
                <a:latin typeface="Montserrat" pitchFamily="34" charset="0"/>
                <a:ea typeface="Montserrat" pitchFamily="34" charset="-122"/>
                <a:cs typeface="Montserrat" pitchFamily="34" charset="-120"/>
              </a:rPr>
              <a:t> avec des patients et des professionnels de santé pour valider les fonctionnalités et améliorer l'interface.</a:t>
            </a:r>
            <a:endParaRPr lang="en-US" sz="1600" dirty="0"/>
          </a:p>
        </p:txBody>
      </p:sp>
      <p:sp>
        <p:nvSpPr>
          <p:cNvPr id="7" name="Shape 4"/>
          <p:cNvSpPr/>
          <p:nvPr/>
        </p:nvSpPr>
        <p:spPr>
          <a:xfrm>
            <a:off x="6432590" y="3402330"/>
            <a:ext cx="141923" cy="1029891"/>
          </a:xfrm>
          <a:prstGeom prst="roundRect">
            <a:avLst>
              <a:gd name="adj" fmla="val 120011"/>
            </a:avLst>
          </a:prstGeom>
          <a:solidFill>
            <a:srgbClr val="EEEFF5"/>
          </a:solidFill>
          <a:ln/>
          <a:effectLst>
            <a:outerShdw blurRad="46990" dist="22860" dir="13500000" algn="bl" rotWithShape="0">
              <a:srgbClr val="FFFFFF">
                <a:alpha val="70000"/>
              </a:srgbClr>
            </a:outerShdw>
          </a:effectLst>
        </p:spPr>
      </p:sp>
      <p:sp>
        <p:nvSpPr>
          <p:cNvPr id="8" name="Text 5"/>
          <p:cNvSpPr/>
          <p:nvPr/>
        </p:nvSpPr>
        <p:spPr>
          <a:xfrm>
            <a:off x="6858357" y="3402330"/>
            <a:ext cx="2916912" cy="311110"/>
          </a:xfrm>
          <a:prstGeom prst="rect">
            <a:avLst/>
          </a:prstGeom>
          <a:noFill/>
          <a:ln/>
        </p:spPr>
        <p:txBody>
          <a:bodyPr wrap="none" lIns="0" tIns="0" rIns="0" bIns="0" rtlCol="0" anchor="t"/>
          <a:lstStyle/>
          <a:p>
            <a:pPr marL="0" indent="0" algn="l">
              <a:lnSpc>
                <a:spcPts val="2450"/>
              </a:lnSpc>
              <a:buNone/>
            </a:pPr>
            <a:r>
              <a:rPr lang="en-US" sz="2400" b="1" dirty="0">
                <a:solidFill>
                  <a:srgbClr val="272525"/>
                </a:solidFill>
                <a:latin typeface="Barlow Bold" pitchFamily="34" charset="0"/>
                <a:ea typeface="Barlow Bold" pitchFamily="34" charset="-122"/>
                <a:cs typeface="Barlow Bold" pitchFamily="34" charset="-120"/>
              </a:rPr>
              <a:t>Optimisation de la batterie</a:t>
            </a:r>
            <a:endParaRPr lang="en-US" sz="2400" dirty="0"/>
          </a:p>
        </p:txBody>
      </p:sp>
      <p:sp>
        <p:nvSpPr>
          <p:cNvPr id="9" name="Text 6"/>
          <p:cNvSpPr/>
          <p:nvPr/>
        </p:nvSpPr>
        <p:spPr>
          <a:xfrm>
            <a:off x="6858357" y="3826907"/>
            <a:ext cx="7109698" cy="605314"/>
          </a:xfrm>
          <a:prstGeom prst="rect">
            <a:avLst/>
          </a:prstGeom>
          <a:noFill/>
          <a:ln/>
        </p:spPr>
        <p:txBody>
          <a:bodyPr wrap="square" lIns="0" tIns="0" rIns="0" bIns="0" rtlCol="0" anchor="t"/>
          <a:lstStyle/>
          <a:p>
            <a:pPr marL="0" indent="0" algn="l">
              <a:lnSpc>
                <a:spcPts val="2350"/>
              </a:lnSpc>
              <a:buNone/>
            </a:pPr>
            <a:r>
              <a:rPr lang="en-US" sz="1600" b="1" dirty="0">
                <a:solidFill>
                  <a:srgbClr val="272525"/>
                </a:solidFill>
                <a:latin typeface="Montserrat" pitchFamily="34" charset="0"/>
                <a:ea typeface="Montserrat" pitchFamily="34" charset="-122"/>
                <a:cs typeface="Montserrat" pitchFamily="34" charset="-120"/>
              </a:rPr>
              <a:t>Optimisation de l'autonomie de la batterie</a:t>
            </a:r>
            <a:r>
              <a:rPr lang="en-US" sz="1600" dirty="0">
                <a:solidFill>
                  <a:srgbClr val="272525"/>
                </a:solidFill>
                <a:latin typeface="Montserrat" pitchFamily="34" charset="0"/>
                <a:ea typeface="Montserrat" pitchFamily="34" charset="-122"/>
                <a:cs typeface="Montserrat" pitchFamily="34" charset="-120"/>
              </a:rPr>
              <a:t> du bracelet pour garantir une longue durée d'utilisation sans recharges fréquentes</a:t>
            </a:r>
            <a:r>
              <a:rPr lang="en-US" sz="1450" dirty="0">
                <a:solidFill>
                  <a:srgbClr val="272525"/>
                </a:solidFill>
                <a:latin typeface="Montserrat" pitchFamily="34" charset="0"/>
                <a:ea typeface="Montserrat" pitchFamily="34" charset="-122"/>
                <a:cs typeface="Montserrat" pitchFamily="34" charset="-120"/>
              </a:rPr>
              <a:t>.</a:t>
            </a:r>
            <a:endParaRPr lang="en-US" sz="1450" dirty="0"/>
          </a:p>
        </p:txBody>
      </p:sp>
      <p:sp>
        <p:nvSpPr>
          <p:cNvPr id="10" name="Shape 7"/>
          <p:cNvSpPr/>
          <p:nvPr/>
        </p:nvSpPr>
        <p:spPr>
          <a:xfrm>
            <a:off x="6716435" y="4621411"/>
            <a:ext cx="141923" cy="1029891"/>
          </a:xfrm>
          <a:prstGeom prst="roundRect">
            <a:avLst>
              <a:gd name="adj" fmla="val 120011"/>
            </a:avLst>
          </a:prstGeom>
          <a:solidFill>
            <a:srgbClr val="EEEFF5"/>
          </a:solidFill>
          <a:ln/>
          <a:effectLst>
            <a:outerShdw blurRad="46990" dist="22860" dir="13500000" algn="bl" rotWithShape="0">
              <a:srgbClr val="FFFFFF">
                <a:alpha val="70000"/>
              </a:srgbClr>
            </a:outerShdw>
          </a:effectLst>
        </p:spPr>
      </p:sp>
      <p:sp>
        <p:nvSpPr>
          <p:cNvPr id="11" name="Text 8"/>
          <p:cNvSpPr/>
          <p:nvPr/>
        </p:nvSpPr>
        <p:spPr>
          <a:xfrm>
            <a:off x="7142202" y="4621411"/>
            <a:ext cx="2490073" cy="311110"/>
          </a:xfrm>
          <a:prstGeom prst="rect">
            <a:avLst/>
          </a:prstGeom>
          <a:noFill/>
          <a:ln/>
        </p:spPr>
        <p:txBody>
          <a:bodyPr wrap="none" lIns="0" tIns="0" rIns="0" bIns="0" rtlCol="0" anchor="t"/>
          <a:lstStyle/>
          <a:p>
            <a:pPr marL="0" indent="0" algn="l">
              <a:lnSpc>
                <a:spcPts val="2450"/>
              </a:lnSpc>
              <a:buNone/>
            </a:pPr>
            <a:r>
              <a:rPr lang="en-US" sz="2400" b="1" dirty="0">
                <a:solidFill>
                  <a:srgbClr val="272525"/>
                </a:solidFill>
                <a:latin typeface="Barlow Bold" pitchFamily="34" charset="0"/>
                <a:ea typeface="Barlow Bold" pitchFamily="34" charset="-122"/>
                <a:cs typeface="Barlow Bold" pitchFamily="34" charset="-120"/>
              </a:rPr>
              <a:t>Phase pilote</a:t>
            </a:r>
            <a:endParaRPr lang="en-US" sz="2400" dirty="0"/>
          </a:p>
        </p:txBody>
      </p:sp>
      <p:sp>
        <p:nvSpPr>
          <p:cNvPr id="12" name="Text 9"/>
          <p:cNvSpPr/>
          <p:nvPr/>
        </p:nvSpPr>
        <p:spPr>
          <a:xfrm>
            <a:off x="7142202" y="5045988"/>
            <a:ext cx="6825853" cy="605314"/>
          </a:xfrm>
          <a:prstGeom prst="rect">
            <a:avLst/>
          </a:prstGeom>
          <a:noFill/>
          <a:ln/>
        </p:spPr>
        <p:txBody>
          <a:bodyPr wrap="square" lIns="0" tIns="0" rIns="0" bIns="0" rtlCol="0" anchor="t"/>
          <a:lstStyle/>
          <a:p>
            <a:pPr marL="0" indent="0" algn="l">
              <a:lnSpc>
                <a:spcPts val="2350"/>
              </a:lnSpc>
              <a:buNone/>
            </a:pPr>
            <a:r>
              <a:rPr lang="en-US" sz="1600" dirty="0">
                <a:solidFill>
                  <a:srgbClr val="272525"/>
                </a:solidFill>
                <a:latin typeface="Montserrat" pitchFamily="34" charset="0"/>
                <a:ea typeface="Montserrat" pitchFamily="34" charset="-122"/>
                <a:cs typeface="Montserrat" pitchFamily="34" charset="-120"/>
              </a:rPr>
              <a:t>Lancement d'une </a:t>
            </a:r>
            <a:r>
              <a:rPr lang="en-US" sz="1600" b="1" dirty="0">
                <a:solidFill>
                  <a:srgbClr val="272525"/>
                </a:solidFill>
                <a:latin typeface="Montserrat" pitchFamily="34" charset="0"/>
                <a:ea typeface="Montserrat" pitchFamily="34" charset="-122"/>
                <a:cs typeface="Montserrat" pitchFamily="34" charset="-120"/>
              </a:rPr>
              <a:t>phase pilote</a:t>
            </a:r>
            <a:r>
              <a:rPr lang="en-US" sz="1600" dirty="0">
                <a:solidFill>
                  <a:srgbClr val="272525"/>
                </a:solidFill>
                <a:latin typeface="Montserrat" pitchFamily="34" charset="0"/>
                <a:ea typeface="Montserrat" pitchFamily="34" charset="-122"/>
                <a:cs typeface="Montserrat" pitchFamily="34" charset="-120"/>
              </a:rPr>
              <a:t> avec un groupe restreint d'utilisateurs pour effectuer des ajustements finaux.</a:t>
            </a:r>
            <a:endParaRPr lang="en-US" sz="1600" dirty="0"/>
          </a:p>
        </p:txBody>
      </p:sp>
      <p:sp>
        <p:nvSpPr>
          <p:cNvPr id="13" name="Shape 10"/>
          <p:cNvSpPr/>
          <p:nvPr/>
        </p:nvSpPr>
        <p:spPr>
          <a:xfrm>
            <a:off x="7000280" y="5840492"/>
            <a:ext cx="141923" cy="1029891"/>
          </a:xfrm>
          <a:prstGeom prst="roundRect">
            <a:avLst>
              <a:gd name="adj" fmla="val 120011"/>
            </a:avLst>
          </a:prstGeom>
          <a:solidFill>
            <a:srgbClr val="EEEFF5"/>
          </a:solidFill>
          <a:ln/>
          <a:effectLst>
            <a:outerShdw blurRad="46990" dist="22860" dir="13500000" algn="bl" rotWithShape="0">
              <a:srgbClr val="FFFFFF">
                <a:alpha val="70000"/>
              </a:srgbClr>
            </a:outerShdw>
          </a:effectLst>
        </p:spPr>
      </p:sp>
      <p:sp>
        <p:nvSpPr>
          <p:cNvPr id="14" name="Text 11"/>
          <p:cNvSpPr/>
          <p:nvPr/>
        </p:nvSpPr>
        <p:spPr>
          <a:xfrm>
            <a:off x="7426047" y="5840492"/>
            <a:ext cx="2490073" cy="311110"/>
          </a:xfrm>
          <a:prstGeom prst="rect">
            <a:avLst/>
          </a:prstGeom>
          <a:noFill/>
          <a:ln/>
        </p:spPr>
        <p:txBody>
          <a:bodyPr wrap="none" lIns="0" tIns="0" rIns="0" bIns="0" rtlCol="0" anchor="t"/>
          <a:lstStyle/>
          <a:p>
            <a:pPr marL="0" indent="0" algn="l">
              <a:lnSpc>
                <a:spcPts val="2450"/>
              </a:lnSpc>
              <a:buNone/>
            </a:pPr>
            <a:r>
              <a:rPr lang="en-US" sz="2400" b="1" dirty="0">
                <a:solidFill>
                  <a:srgbClr val="272525"/>
                </a:solidFill>
                <a:latin typeface="Barlow Bold" pitchFamily="34" charset="0"/>
                <a:ea typeface="Barlow Bold" pitchFamily="34" charset="-122"/>
                <a:cs typeface="Barlow Bold" pitchFamily="34" charset="-120"/>
              </a:rPr>
              <a:t>Finalisation</a:t>
            </a:r>
            <a:endParaRPr lang="en-US" sz="2400" dirty="0"/>
          </a:p>
        </p:txBody>
      </p:sp>
      <p:sp>
        <p:nvSpPr>
          <p:cNvPr id="15" name="Text 12"/>
          <p:cNvSpPr/>
          <p:nvPr/>
        </p:nvSpPr>
        <p:spPr>
          <a:xfrm>
            <a:off x="7426047" y="6265069"/>
            <a:ext cx="6542008" cy="605314"/>
          </a:xfrm>
          <a:prstGeom prst="rect">
            <a:avLst/>
          </a:prstGeom>
          <a:noFill/>
          <a:ln/>
        </p:spPr>
        <p:txBody>
          <a:bodyPr wrap="square" lIns="0" tIns="0" rIns="0" bIns="0" rtlCol="0" anchor="t"/>
          <a:lstStyle/>
          <a:p>
            <a:pPr marL="0" indent="0" algn="l">
              <a:lnSpc>
                <a:spcPts val="2350"/>
              </a:lnSpc>
              <a:buNone/>
            </a:pPr>
            <a:r>
              <a:rPr lang="en-US" sz="1600" b="1" dirty="0">
                <a:solidFill>
                  <a:srgbClr val="272525"/>
                </a:solidFill>
                <a:latin typeface="Montserrat" pitchFamily="34" charset="0"/>
                <a:ea typeface="Montserrat" pitchFamily="34" charset="-122"/>
                <a:cs typeface="Montserrat" pitchFamily="34" charset="-120"/>
              </a:rPr>
              <a:t>Finalisation de la version stable</a:t>
            </a:r>
            <a:r>
              <a:rPr lang="en-US" sz="1600" dirty="0">
                <a:solidFill>
                  <a:srgbClr val="272525"/>
                </a:solidFill>
                <a:latin typeface="Montserrat" pitchFamily="34" charset="0"/>
                <a:ea typeface="Montserrat" pitchFamily="34" charset="-122"/>
                <a:cs typeface="Montserrat" pitchFamily="34" charset="-120"/>
              </a:rPr>
              <a:t> de l'application et préparation au déploiement à grande échelle.</a:t>
            </a:r>
            <a:endParaRPr lang="en-US" sz="1600" dirty="0"/>
          </a:p>
        </p:txBody>
      </p:sp>
      <p:sp>
        <p:nvSpPr>
          <p:cNvPr id="16" name="Text 13"/>
          <p:cNvSpPr/>
          <p:nvPr/>
        </p:nvSpPr>
        <p:spPr>
          <a:xfrm>
            <a:off x="6148745" y="7272457"/>
            <a:ext cx="7819311" cy="302657"/>
          </a:xfrm>
          <a:prstGeom prst="rect">
            <a:avLst/>
          </a:prstGeom>
          <a:noFill/>
          <a:ln/>
        </p:spPr>
        <p:txBody>
          <a:bodyPr wrap="none" lIns="0" tIns="0" rIns="0" bIns="0" rtlCol="0" anchor="t"/>
          <a:lstStyle/>
          <a:p>
            <a:pPr marL="0" indent="0" algn="l">
              <a:lnSpc>
                <a:spcPts val="2350"/>
              </a:lnSpc>
              <a:buNone/>
            </a:pPr>
            <a:r>
              <a:rPr lang="en-US" b="1" dirty="0">
                <a:solidFill>
                  <a:srgbClr val="272525"/>
                </a:solidFill>
                <a:latin typeface="Montserrat" pitchFamily="34" charset="0"/>
                <a:ea typeface="Montserrat" pitchFamily="34" charset="-122"/>
                <a:cs typeface="Montserrat" pitchFamily="34" charset="-120"/>
              </a:rPr>
              <a:t>Livrable</a:t>
            </a:r>
            <a:r>
              <a:rPr lang="en-US" sz="1450" dirty="0">
                <a:solidFill>
                  <a:srgbClr val="272525"/>
                </a:solidFill>
                <a:latin typeface="Montserrat" pitchFamily="34" charset="0"/>
                <a:ea typeface="Montserrat" pitchFamily="34" charset="-122"/>
                <a:cs typeface="Montserrat" pitchFamily="34" charset="-120"/>
              </a:rPr>
              <a:t> : </a:t>
            </a:r>
            <a:r>
              <a:rPr lang="en-US" sz="1600" dirty="0">
                <a:solidFill>
                  <a:srgbClr val="272525"/>
                </a:solidFill>
                <a:latin typeface="Montserrat" pitchFamily="34" charset="0"/>
                <a:ea typeface="Montserrat" pitchFamily="34" charset="-122"/>
                <a:cs typeface="Montserrat" pitchFamily="34" charset="-120"/>
              </a:rPr>
              <a:t>Application prête pour un lancement pilote, stable et optimisée</a:t>
            </a:r>
            <a:r>
              <a:rPr lang="en-US" sz="1450" dirty="0">
                <a:solidFill>
                  <a:srgbClr val="272525"/>
                </a:solidFill>
                <a:latin typeface="Montserrat" pitchFamily="34" charset="0"/>
                <a:ea typeface="Montserrat" pitchFamily="34" charset="-122"/>
                <a:cs typeface="Montserrat" pitchFamily="34" charset="-120"/>
              </a:rPr>
              <a:t>.</a:t>
            </a:r>
            <a:endParaRPr lang="en-US" sz="1450" dirty="0"/>
          </a:p>
        </p:txBody>
      </p:sp>
      <p:sp>
        <p:nvSpPr>
          <p:cNvPr id="17" name="ZoneTexte 16">
            <a:extLst>
              <a:ext uri="{FF2B5EF4-FFF2-40B4-BE49-F238E27FC236}">
                <a16:creationId xmlns:a16="http://schemas.microsoft.com/office/drawing/2014/main" id="{8CF1D3BE-EDEE-30EE-1FED-DAD43F5B6516}"/>
              </a:ext>
            </a:extLst>
          </p:cNvPr>
          <p:cNvSpPr txBox="1"/>
          <p:nvPr/>
        </p:nvSpPr>
        <p:spPr>
          <a:xfrm>
            <a:off x="14028953" y="7671733"/>
            <a:ext cx="601447" cy="584775"/>
          </a:xfrm>
          <a:prstGeom prst="rect">
            <a:avLst/>
          </a:prstGeom>
          <a:noFill/>
        </p:spPr>
        <p:txBody>
          <a:bodyPr wrap="none" rtlCol="0">
            <a:spAutoFit/>
          </a:bodyPr>
          <a:lstStyle/>
          <a:p>
            <a:r>
              <a:rPr lang="fr-FR" sz="3200" dirty="0"/>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ext 0"/>
          <p:cNvSpPr/>
          <p:nvPr/>
        </p:nvSpPr>
        <p:spPr>
          <a:xfrm>
            <a:off x="733365" y="479823"/>
            <a:ext cx="7265075" cy="712708"/>
          </a:xfrm>
          <a:prstGeom prst="rect">
            <a:avLst/>
          </a:prstGeom>
          <a:noFill/>
          <a:ln/>
        </p:spPr>
        <p:txBody>
          <a:bodyPr wrap="none" lIns="0" tIns="0" rIns="0" bIns="0" rtlCol="0" anchor="t"/>
          <a:lstStyle/>
          <a:p>
            <a:pPr marL="0" indent="0" algn="l">
              <a:lnSpc>
                <a:spcPts val="5600"/>
              </a:lnSpc>
              <a:buNone/>
            </a:pPr>
            <a:r>
              <a:rPr lang="en-US" sz="4450" b="1" dirty="0">
                <a:solidFill>
                  <a:srgbClr val="7030A0"/>
                </a:solidFill>
                <a:latin typeface="Barlow Bold" pitchFamily="34" charset="0"/>
                <a:ea typeface="Barlow Bold" pitchFamily="34" charset="-122"/>
                <a:cs typeface="Barlow Bold" pitchFamily="34" charset="-120"/>
              </a:rPr>
              <a:t>4-Vision et Impact du Projet:</a:t>
            </a:r>
            <a:endParaRPr lang="en-US" sz="4450" dirty="0">
              <a:solidFill>
                <a:srgbClr val="7030A0"/>
              </a:solidFill>
            </a:endParaRPr>
          </a:p>
        </p:txBody>
      </p:sp>
      <p:sp>
        <p:nvSpPr>
          <p:cNvPr id="3" name="Text 1"/>
          <p:cNvSpPr/>
          <p:nvPr/>
        </p:nvSpPr>
        <p:spPr>
          <a:xfrm>
            <a:off x="2169557" y="2400657"/>
            <a:ext cx="2850713" cy="356235"/>
          </a:xfrm>
          <a:prstGeom prst="rect">
            <a:avLst/>
          </a:prstGeom>
          <a:noFill/>
          <a:ln/>
        </p:spPr>
        <p:txBody>
          <a:bodyPr wrap="none" lIns="0" tIns="0" rIns="0" bIns="0" rtlCol="0" anchor="t"/>
          <a:lstStyle/>
          <a:p>
            <a:pPr marL="0" indent="0" algn="r">
              <a:lnSpc>
                <a:spcPts val="2800"/>
              </a:lnSpc>
              <a:buNone/>
            </a:pPr>
            <a:r>
              <a:rPr lang="en-US" sz="3200" b="1" dirty="0">
                <a:solidFill>
                  <a:srgbClr val="272525"/>
                </a:solidFill>
                <a:latin typeface="Barlow Bold" pitchFamily="34" charset="0"/>
                <a:ea typeface="Barlow Bold" pitchFamily="34" charset="-122"/>
                <a:cs typeface="Barlow Bold" pitchFamily="34" charset="-120"/>
              </a:rPr>
              <a:t>Solution innovante</a:t>
            </a:r>
            <a:endParaRPr lang="en-US" sz="3200" dirty="0"/>
          </a:p>
        </p:txBody>
      </p:sp>
      <p:sp>
        <p:nvSpPr>
          <p:cNvPr id="4" name="Text 2"/>
          <p:cNvSpPr/>
          <p:nvPr/>
        </p:nvSpPr>
        <p:spPr>
          <a:xfrm>
            <a:off x="758309" y="2886789"/>
            <a:ext cx="4261961" cy="1040130"/>
          </a:xfrm>
          <a:prstGeom prst="rect">
            <a:avLst/>
          </a:prstGeom>
          <a:noFill/>
          <a:ln/>
        </p:spPr>
        <p:txBody>
          <a:bodyPr wrap="square" lIns="0" tIns="0" rIns="0" bIns="0" rtlCol="0" anchor="t"/>
          <a:lstStyle/>
          <a:p>
            <a:pPr marL="0" indent="0" algn="r">
              <a:lnSpc>
                <a:spcPts val="2700"/>
              </a:lnSpc>
              <a:buNone/>
            </a:pPr>
            <a:r>
              <a:rPr lang="en-US" sz="2000" dirty="0">
                <a:solidFill>
                  <a:srgbClr val="272525"/>
                </a:solidFill>
                <a:latin typeface="Montserrat" pitchFamily="34" charset="0"/>
                <a:ea typeface="Montserrat" pitchFamily="34" charset="-122"/>
                <a:cs typeface="Montserrat" pitchFamily="34" charset="-120"/>
              </a:rPr>
              <a:t>SmartCare propose une solution innovante pour le suivi des patients atteints de maladies chroniques</a:t>
            </a:r>
            <a:r>
              <a:rPr lang="en-US" sz="1700" dirty="0">
                <a:solidFill>
                  <a:srgbClr val="272525"/>
                </a:solidFill>
                <a:latin typeface="Montserrat" pitchFamily="34" charset="0"/>
                <a:ea typeface="Montserrat" pitchFamily="34" charset="-122"/>
                <a:cs typeface="Montserrat" pitchFamily="34" charset="-120"/>
              </a:rPr>
              <a:t>.</a:t>
            </a:r>
            <a:endParaRPr lang="en-US" sz="1700" dirty="0"/>
          </a:p>
        </p:txBody>
      </p:sp>
      <p:pic>
        <p:nvPicPr>
          <p:cNvPr id="5" name="Image 0" descr="preencoded.png"/>
          <p:cNvPicPr>
            <a:picLocks noChangeAspect="1"/>
          </p:cNvPicPr>
          <p:nvPr/>
        </p:nvPicPr>
        <p:blipFill>
          <a:blip r:embed="rId3"/>
          <a:stretch>
            <a:fillRect/>
          </a:stretch>
        </p:blipFill>
        <p:spPr>
          <a:xfrm>
            <a:off x="5020270" y="2097643"/>
            <a:ext cx="4589740" cy="4589740"/>
          </a:xfrm>
          <a:prstGeom prst="rect">
            <a:avLst/>
          </a:prstGeom>
        </p:spPr>
      </p:pic>
      <p:sp>
        <p:nvSpPr>
          <p:cNvPr id="6" name="Text 3"/>
          <p:cNvSpPr/>
          <p:nvPr/>
        </p:nvSpPr>
        <p:spPr>
          <a:xfrm>
            <a:off x="6327041" y="3366314"/>
            <a:ext cx="304681" cy="380762"/>
          </a:xfrm>
          <a:prstGeom prst="rect">
            <a:avLst/>
          </a:prstGeom>
          <a:noFill/>
          <a:ln/>
        </p:spPr>
        <p:txBody>
          <a:bodyPr wrap="none" lIns="0" tIns="0" rIns="0" bIns="0" rtlCol="0" anchor="t"/>
          <a:lstStyle/>
          <a:p>
            <a:pPr marL="0" indent="0" algn="l">
              <a:lnSpc>
                <a:spcPts val="3800"/>
              </a:lnSpc>
              <a:buNone/>
            </a:pPr>
            <a:r>
              <a:rPr lang="en-US" sz="2350" b="1" dirty="0">
                <a:solidFill>
                  <a:srgbClr val="272525"/>
                </a:solidFill>
                <a:latin typeface="Barlow Bold" pitchFamily="34" charset="0"/>
                <a:ea typeface="Barlow Bold" pitchFamily="34" charset="-122"/>
                <a:cs typeface="Barlow Bold" pitchFamily="34" charset="-120"/>
              </a:rPr>
              <a:t>1</a:t>
            </a:r>
            <a:endParaRPr lang="en-US" sz="2350" dirty="0"/>
          </a:p>
        </p:txBody>
      </p:sp>
      <p:sp>
        <p:nvSpPr>
          <p:cNvPr id="7" name="Text 4"/>
          <p:cNvSpPr/>
          <p:nvPr/>
        </p:nvSpPr>
        <p:spPr>
          <a:xfrm>
            <a:off x="9610011" y="2227302"/>
            <a:ext cx="2850713" cy="356235"/>
          </a:xfrm>
          <a:prstGeom prst="rect">
            <a:avLst/>
          </a:prstGeom>
          <a:noFill/>
          <a:ln/>
        </p:spPr>
        <p:txBody>
          <a:bodyPr wrap="none" lIns="0" tIns="0" rIns="0" bIns="0" rtlCol="0" anchor="t"/>
          <a:lstStyle/>
          <a:p>
            <a:pPr marL="0" indent="0" algn="l">
              <a:lnSpc>
                <a:spcPts val="2800"/>
              </a:lnSpc>
              <a:buNone/>
            </a:pPr>
            <a:r>
              <a:rPr lang="en-US" sz="2800" b="1" dirty="0">
                <a:solidFill>
                  <a:srgbClr val="272525"/>
                </a:solidFill>
                <a:latin typeface="Barlow Bold" pitchFamily="34" charset="0"/>
                <a:ea typeface="Barlow Bold" pitchFamily="34" charset="-122"/>
                <a:cs typeface="Barlow Bold" pitchFamily="34" charset="-120"/>
              </a:rPr>
              <a:t>Développement agile</a:t>
            </a:r>
            <a:endParaRPr lang="en-US" sz="2800" dirty="0"/>
          </a:p>
        </p:txBody>
      </p:sp>
      <p:sp>
        <p:nvSpPr>
          <p:cNvPr id="8" name="Text 5"/>
          <p:cNvSpPr/>
          <p:nvPr/>
        </p:nvSpPr>
        <p:spPr>
          <a:xfrm>
            <a:off x="9610011" y="2713434"/>
            <a:ext cx="4262080" cy="1386840"/>
          </a:xfrm>
          <a:prstGeom prst="rect">
            <a:avLst/>
          </a:prstGeom>
          <a:noFill/>
          <a:ln/>
        </p:spPr>
        <p:txBody>
          <a:bodyPr wrap="square" lIns="0" tIns="0" rIns="0" bIns="0" rtlCol="0" anchor="t"/>
          <a:lstStyle/>
          <a:p>
            <a:pPr marL="0" indent="0" algn="l">
              <a:lnSpc>
                <a:spcPts val="2700"/>
              </a:lnSpc>
              <a:buNone/>
            </a:pPr>
            <a:r>
              <a:rPr lang="en-US" sz="2000" dirty="0">
                <a:solidFill>
                  <a:srgbClr val="272525"/>
                </a:solidFill>
                <a:latin typeface="Montserrat" pitchFamily="34" charset="0"/>
                <a:ea typeface="Montserrat" pitchFamily="34" charset="-122"/>
                <a:cs typeface="Montserrat" pitchFamily="34" charset="-120"/>
              </a:rPr>
              <a:t>Grâce à la méthode </a:t>
            </a:r>
            <a:r>
              <a:rPr lang="en-US" sz="2000" b="1" dirty="0">
                <a:solidFill>
                  <a:srgbClr val="272525"/>
                </a:solidFill>
                <a:latin typeface="Montserrat" pitchFamily="34" charset="0"/>
                <a:ea typeface="Montserrat" pitchFamily="34" charset="-122"/>
                <a:cs typeface="Montserrat" pitchFamily="34" charset="-120"/>
              </a:rPr>
              <a:t>Scrum</a:t>
            </a:r>
            <a:r>
              <a:rPr lang="en-US" sz="2000" dirty="0">
                <a:solidFill>
                  <a:srgbClr val="272525"/>
                </a:solidFill>
                <a:latin typeface="Montserrat" pitchFamily="34" charset="0"/>
                <a:ea typeface="Montserrat" pitchFamily="34" charset="-122"/>
                <a:cs typeface="Montserrat" pitchFamily="34" charset="-120"/>
              </a:rPr>
              <a:t>, le développement est structuré de manière agile, permettant une amélioration continue</a:t>
            </a:r>
            <a:r>
              <a:rPr lang="en-US" sz="1700" dirty="0">
                <a:solidFill>
                  <a:srgbClr val="272525"/>
                </a:solidFill>
                <a:latin typeface="Montserrat" pitchFamily="34" charset="0"/>
                <a:ea typeface="Montserrat" pitchFamily="34" charset="-122"/>
                <a:cs typeface="Montserrat" pitchFamily="34" charset="-120"/>
              </a:rPr>
              <a:t>.</a:t>
            </a:r>
            <a:endParaRPr lang="en-US" sz="1700" dirty="0"/>
          </a:p>
        </p:txBody>
      </p:sp>
      <p:pic>
        <p:nvPicPr>
          <p:cNvPr id="9" name="Image 1" descr="preencoded.png"/>
          <p:cNvPicPr>
            <a:picLocks noChangeAspect="1"/>
          </p:cNvPicPr>
          <p:nvPr/>
        </p:nvPicPr>
        <p:blipFill>
          <a:blip r:embed="rId4"/>
          <a:stretch>
            <a:fillRect/>
          </a:stretch>
        </p:blipFill>
        <p:spPr>
          <a:xfrm>
            <a:off x="5020270" y="2097643"/>
            <a:ext cx="4589740" cy="4589740"/>
          </a:xfrm>
          <a:prstGeom prst="rect">
            <a:avLst/>
          </a:prstGeom>
        </p:spPr>
      </p:pic>
      <p:sp>
        <p:nvSpPr>
          <p:cNvPr id="10" name="Text 6"/>
          <p:cNvSpPr/>
          <p:nvPr/>
        </p:nvSpPr>
        <p:spPr>
          <a:xfrm>
            <a:off x="7998440" y="3366314"/>
            <a:ext cx="304681" cy="380762"/>
          </a:xfrm>
          <a:prstGeom prst="rect">
            <a:avLst/>
          </a:prstGeom>
          <a:noFill/>
          <a:ln/>
        </p:spPr>
        <p:txBody>
          <a:bodyPr wrap="none" lIns="0" tIns="0" rIns="0" bIns="0" rtlCol="0" anchor="t"/>
          <a:lstStyle/>
          <a:p>
            <a:pPr marL="0" indent="0" algn="l">
              <a:lnSpc>
                <a:spcPts val="3800"/>
              </a:lnSpc>
              <a:buNone/>
            </a:pPr>
            <a:r>
              <a:rPr lang="en-US" sz="2350" b="1" dirty="0">
                <a:solidFill>
                  <a:srgbClr val="272525"/>
                </a:solidFill>
                <a:latin typeface="Barlow Bold" pitchFamily="34" charset="0"/>
                <a:ea typeface="Barlow Bold" pitchFamily="34" charset="-122"/>
                <a:cs typeface="Barlow Bold" pitchFamily="34" charset="-120"/>
              </a:rPr>
              <a:t>2</a:t>
            </a:r>
            <a:endParaRPr lang="en-US" sz="2350" dirty="0"/>
          </a:p>
        </p:txBody>
      </p:sp>
      <p:sp>
        <p:nvSpPr>
          <p:cNvPr id="11" name="Text 7"/>
          <p:cNvSpPr/>
          <p:nvPr/>
        </p:nvSpPr>
        <p:spPr>
          <a:xfrm>
            <a:off x="9610011" y="4857988"/>
            <a:ext cx="2850713" cy="356235"/>
          </a:xfrm>
          <a:prstGeom prst="rect">
            <a:avLst/>
          </a:prstGeom>
          <a:noFill/>
          <a:ln/>
        </p:spPr>
        <p:txBody>
          <a:bodyPr wrap="none" lIns="0" tIns="0" rIns="0" bIns="0" rtlCol="0" anchor="t"/>
          <a:lstStyle/>
          <a:p>
            <a:pPr marL="0" indent="0" algn="l">
              <a:lnSpc>
                <a:spcPts val="2800"/>
              </a:lnSpc>
              <a:buNone/>
            </a:pPr>
            <a:r>
              <a:rPr lang="en-US" sz="2800" b="1" dirty="0">
                <a:solidFill>
                  <a:srgbClr val="272525"/>
                </a:solidFill>
                <a:latin typeface="Barlow Bold" pitchFamily="34" charset="0"/>
                <a:ea typeface="Barlow Bold" pitchFamily="34" charset="-122"/>
                <a:cs typeface="Barlow Bold" pitchFamily="34" charset="-120"/>
              </a:rPr>
              <a:t>Sécurité et fiabilité</a:t>
            </a:r>
            <a:endParaRPr lang="en-US" sz="2800" dirty="0"/>
          </a:p>
        </p:txBody>
      </p:sp>
      <p:sp>
        <p:nvSpPr>
          <p:cNvPr id="12" name="Text 8"/>
          <p:cNvSpPr/>
          <p:nvPr/>
        </p:nvSpPr>
        <p:spPr>
          <a:xfrm>
            <a:off x="9610011" y="5344120"/>
            <a:ext cx="4262080" cy="1040130"/>
          </a:xfrm>
          <a:prstGeom prst="rect">
            <a:avLst/>
          </a:prstGeom>
          <a:noFill/>
          <a:ln/>
        </p:spPr>
        <p:txBody>
          <a:bodyPr wrap="square" lIns="0" tIns="0" rIns="0" bIns="0" rtlCol="0" anchor="t"/>
          <a:lstStyle/>
          <a:p>
            <a:pPr marL="0" indent="0" algn="l">
              <a:lnSpc>
                <a:spcPts val="2700"/>
              </a:lnSpc>
              <a:buNone/>
            </a:pPr>
            <a:r>
              <a:rPr lang="en-US" sz="2000" dirty="0">
                <a:solidFill>
                  <a:srgbClr val="272525"/>
                </a:solidFill>
                <a:latin typeface="Montserrat" pitchFamily="34" charset="0"/>
                <a:ea typeface="Montserrat" pitchFamily="34" charset="-122"/>
                <a:cs typeface="Montserrat" pitchFamily="34" charset="-120"/>
              </a:rPr>
              <a:t>Le projet vise à offrir une </a:t>
            </a:r>
            <a:r>
              <a:rPr lang="en-US" sz="2000" b="1" dirty="0">
                <a:solidFill>
                  <a:srgbClr val="272525"/>
                </a:solidFill>
                <a:latin typeface="Montserrat" pitchFamily="34" charset="0"/>
                <a:ea typeface="Montserrat" pitchFamily="34" charset="-122"/>
                <a:cs typeface="Montserrat" pitchFamily="34" charset="-120"/>
              </a:rPr>
              <a:t>solution sécurisée</a:t>
            </a:r>
            <a:r>
              <a:rPr lang="en-US" sz="2000" dirty="0">
                <a:solidFill>
                  <a:srgbClr val="272525"/>
                </a:solidFill>
                <a:latin typeface="Montserrat" pitchFamily="34" charset="0"/>
                <a:ea typeface="Montserrat" pitchFamily="34" charset="-122"/>
                <a:cs typeface="Montserrat" pitchFamily="34" charset="-120"/>
              </a:rPr>
              <a:t> et </a:t>
            </a:r>
            <a:r>
              <a:rPr lang="en-US" sz="2000" b="1" dirty="0">
                <a:solidFill>
                  <a:srgbClr val="272525"/>
                </a:solidFill>
                <a:latin typeface="Montserrat" pitchFamily="34" charset="0"/>
                <a:ea typeface="Montserrat" pitchFamily="34" charset="-122"/>
                <a:cs typeface="Montserrat" pitchFamily="34" charset="-120"/>
              </a:rPr>
              <a:t>fiable</a:t>
            </a:r>
            <a:r>
              <a:rPr lang="en-US" sz="2000" dirty="0">
                <a:solidFill>
                  <a:srgbClr val="272525"/>
                </a:solidFill>
                <a:latin typeface="Montserrat" pitchFamily="34" charset="0"/>
                <a:ea typeface="Montserrat" pitchFamily="34" charset="-122"/>
                <a:cs typeface="Montserrat" pitchFamily="34" charset="-120"/>
              </a:rPr>
              <a:t>, avec des tests utilisateurs et une phase pilote.</a:t>
            </a:r>
            <a:endParaRPr lang="en-US" sz="2000" dirty="0"/>
          </a:p>
        </p:txBody>
      </p:sp>
      <p:pic>
        <p:nvPicPr>
          <p:cNvPr id="13" name="Image 2" descr="preencoded.png"/>
          <p:cNvPicPr>
            <a:picLocks noChangeAspect="1"/>
          </p:cNvPicPr>
          <p:nvPr/>
        </p:nvPicPr>
        <p:blipFill>
          <a:blip r:embed="rId5"/>
          <a:stretch>
            <a:fillRect/>
          </a:stretch>
        </p:blipFill>
        <p:spPr>
          <a:xfrm>
            <a:off x="5020270" y="2097643"/>
            <a:ext cx="4589740" cy="4589740"/>
          </a:xfrm>
          <a:prstGeom prst="rect">
            <a:avLst/>
          </a:prstGeom>
        </p:spPr>
      </p:pic>
      <p:sp>
        <p:nvSpPr>
          <p:cNvPr id="14" name="Text 9"/>
          <p:cNvSpPr/>
          <p:nvPr/>
        </p:nvSpPr>
        <p:spPr>
          <a:xfrm>
            <a:off x="7998440" y="5037713"/>
            <a:ext cx="304681" cy="380762"/>
          </a:xfrm>
          <a:prstGeom prst="rect">
            <a:avLst/>
          </a:prstGeom>
          <a:noFill/>
          <a:ln/>
        </p:spPr>
        <p:txBody>
          <a:bodyPr wrap="none" lIns="0" tIns="0" rIns="0" bIns="0" rtlCol="0" anchor="t"/>
          <a:lstStyle/>
          <a:p>
            <a:pPr marL="0" indent="0" algn="l">
              <a:lnSpc>
                <a:spcPts val="3800"/>
              </a:lnSpc>
              <a:buNone/>
            </a:pPr>
            <a:r>
              <a:rPr lang="en-US" sz="2350" b="1" dirty="0">
                <a:solidFill>
                  <a:srgbClr val="272525"/>
                </a:solidFill>
                <a:latin typeface="Barlow Bold" pitchFamily="34" charset="0"/>
                <a:ea typeface="Barlow Bold" pitchFamily="34" charset="-122"/>
                <a:cs typeface="Barlow Bold" pitchFamily="34" charset="-120"/>
              </a:rPr>
              <a:t>3</a:t>
            </a:r>
            <a:endParaRPr lang="en-US" sz="2350" dirty="0"/>
          </a:p>
        </p:txBody>
      </p:sp>
      <p:sp>
        <p:nvSpPr>
          <p:cNvPr id="15" name="Text 10"/>
          <p:cNvSpPr/>
          <p:nvPr/>
        </p:nvSpPr>
        <p:spPr>
          <a:xfrm>
            <a:off x="2169557" y="4684633"/>
            <a:ext cx="2850713" cy="356235"/>
          </a:xfrm>
          <a:prstGeom prst="rect">
            <a:avLst/>
          </a:prstGeom>
          <a:noFill/>
          <a:ln/>
        </p:spPr>
        <p:txBody>
          <a:bodyPr wrap="none" lIns="0" tIns="0" rIns="0" bIns="0" rtlCol="0" anchor="t"/>
          <a:lstStyle/>
          <a:p>
            <a:pPr marL="0" indent="0" algn="r">
              <a:lnSpc>
                <a:spcPts val="2800"/>
              </a:lnSpc>
              <a:buNone/>
            </a:pPr>
            <a:r>
              <a:rPr lang="en-US" sz="2800" b="1" dirty="0">
                <a:solidFill>
                  <a:srgbClr val="272525"/>
                </a:solidFill>
                <a:latin typeface="Barlow Bold" pitchFamily="34" charset="0"/>
                <a:ea typeface="Barlow Bold" pitchFamily="34" charset="-122"/>
                <a:cs typeface="Barlow Bold" pitchFamily="34" charset="-120"/>
              </a:rPr>
              <a:t>Impact médical</a:t>
            </a:r>
            <a:endParaRPr lang="en-US" sz="2800" dirty="0"/>
          </a:p>
        </p:txBody>
      </p:sp>
      <p:sp>
        <p:nvSpPr>
          <p:cNvPr id="16" name="Text 11"/>
          <p:cNvSpPr/>
          <p:nvPr/>
        </p:nvSpPr>
        <p:spPr>
          <a:xfrm>
            <a:off x="758309" y="5170765"/>
            <a:ext cx="4261961" cy="1386840"/>
          </a:xfrm>
          <a:prstGeom prst="rect">
            <a:avLst/>
          </a:prstGeom>
          <a:noFill/>
          <a:ln/>
        </p:spPr>
        <p:txBody>
          <a:bodyPr wrap="square" lIns="0" tIns="0" rIns="0" bIns="0" rtlCol="0" anchor="t"/>
          <a:lstStyle/>
          <a:p>
            <a:pPr marL="0" indent="0" algn="r">
              <a:lnSpc>
                <a:spcPts val="2700"/>
              </a:lnSpc>
              <a:buNone/>
            </a:pPr>
            <a:r>
              <a:rPr lang="en-US" sz="2000" dirty="0">
                <a:solidFill>
                  <a:srgbClr val="272525"/>
                </a:solidFill>
                <a:latin typeface="Montserrat" pitchFamily="34" charset="0"/>
                <a:ea typeface="Montserrat" pitchFamily="34" charset="-122"/>
                <a:cs typeface="Montserrat" pitchFamily="34" charset="-120"/>
              </a:rPr>
              <a:t>SmartCare représente un outil précieux pour améliorer la gestion des maladies chroniques et la réactivité en cas d'urgence </a:t>
            </a:r>
            <a:r>
              <a:rPr lang="en-US" sz="2000" dirty="0" err="1">
                <a:solidFill>
                  <a:srgbClr val="272525"/>
                </a:solidFill>
                <a:latin typeface="Montserrat" pitchFamily="34" charset="0"/>
                <a:ea typeface="Montserrat" pitchFamily="34" charset="-122"/>
                <a:cs typeface="Montserrat" pitchFamily="34" charset="-120"/>
              </a:rPr>
              <a:t>médicale</a:t>
            </a:r>
            <a:r>
              <a:rPr lang="en-US" sz="2000" dirty="0">
                <a:solidFill>
                  <a:srgbClr val="272525"/>
                </a:solidFill>
                <a:latin typeface="Montserrat" pitchFamily="34" charset="0"/>
                <a:ea typeface="Montserrat" pitchFamily="34" charset="-122"/>
                <a:cs typeface="Montserrat" pitchFamily="34" charset="-120"/>
              </a:rPr>
              <a:t>.</a:t>
            </a:r>
            <a:endParaRPr lang="en-US" sz="2000" dirty="0"/>
          </a:p>
        </p:txBody>
      </p:sp>
      <p:pic>
        <p:nvPicPr>
          <p:cNvPr id="17" name="Image 3" descr="preencoded.png"/>
          <p:cNvPicPr>
            <a:picLocks noChangeAspect="1"/>
          </p:cNvPicPr>
          <p:nvPr/>
        </p:nvPicPr>
        <p:blipFill>
          <a:blip r:embed="rId6"/>
          <a:stretch>
            <a:fillRect/>
          </a:stretch>
        </p:blipFill>
        <p:spPr>
          <a:xfrm>
            <a:off x="5020270" y="2067937"/>
            <a:ext cx="4589740" cy="4589740"/>
          </a:xfrm>
          <a:prstGeom prst="rect">
            <a:avLst/>
          </a:prstGeom>
        </p:spPr>
      </p:pic>
      <p:sp>
        <p:nvSpPr>
          <p:cNvPr id="18" name="Text 12"/>
          <p:cNvSpPr/>
          <p:nvPr/>
        </p:nvSpPr>
        <p:spPr>
          <a:xfrm>
            <a:off x="6327041" y="5037713"/>
            <a:ext cx="304681" cy="380762"/>
          </a:xfrm>
          <a:prstGeom prst="rect">
            <a:avLst/>
          </a:prstGeom>
          <a:noFill/>
          <a:ln/>
        </p:spPr>
        <p:txBody>
          <a:bodyPr wrap="none" lIns="0" tIns="0" rIns="0" bIns="0" rtlCol="0" anchor="t"/>
          <a:lstStyle/>
          <a:p>
            <a:pPr marL="0" indent="0" algn="l">
              <a:lnSpc>
                <a:spcPts val="3800"/>
              </a:lnSpc>
              <a:buNone/>
            </a:pPr>
            <a:r>
              <a:rPr lang="en-US" sz="2350" b="1" dirty="0">
                <a:solidFill>
                  <a:srgbClr val="272525"/>
                </a:solidFill>
                <a:latin typeface="Barlow Bold" pitchFamily="34" charset="0"/>
                <a:ea typeface="Barlow Bold" pitchFamily="34" charset="-122"/>
                <a:cs typeface="Barlow Bold" pitchFamily="34" charset="-120"/>
              </a:rPr>
              <a:t>4</a:t>
            </a:r>
            <a:endParaRPr lang="en-US" sz="2350" dirty="0"/>
          </a:p>
        </p:txBody>
      </p:sp>
      <p:sp>
        <p:nvSpPr>
          <p:cNvPr id="19" name="Text 13"/>
          <p:cNvSpPr/>
          <p:nvPr/>
        </p:nvSpPr>
        <p:spPr>
          <a:xfrm>
            <a:off x="758309" y="6931104"/>
            <a:ext cx="13113782" cy="346710"/>
          </a:xfrm>
          <a:prstGeom prst="rect">
            <a:avLst/>
          </a:prstGeom>
          <a:noFill/>
          <a:ln/>
        </p:spPr>
        <p:txBody>
          <a:bodyPr wrap="none" lIns="0" tIns="0" rIns="0" bIns="0" rtlCol="0" anchor="t"/>
          <a:lstStyle/>
          <a:p>
            <a:pPr marL="0" indent="0" algn="l">
              <a:lnSpc>
                <a:spcPts val="2700"/>
              </a:lnSpc>
              <a:buNone/>
            </a:pPr>
            <a:endParaRPr lang="en-US" sz="1700" dirty="0"/>
          </a:p>
        </p:txBody>
      </p:sp>
      <p:sp>
        <p:nvSpPr>
          <p:cNvPr id="20" name="ZoneTexte 19">
            <a:extLst>
              <a:ext uri="{FF2B5EF4-FFF2-40B4-BE49-F238E27FC236}">
                <a16:creationId xmlns:a16="http://schemas.microsoft.com/office/drawing/2014/main" id="{EE9EE4C8-E0D7-F037-7132-F89940383071}"/>
              </a:ext>
            </a:extLst>
          </p:cNvPr>
          <p:cNvSpPr txBox="1"/>
          <p:nvPr/>
        </p:nvSpPr>
        <p:spPr>
          <a:xfrm>
            <a:off x="13872091" y="7521535"/>
            <a:ext cx="685008" cy="584775"/>
          </a:xfrm>
          <a:prstGeom prst="rect">
            <a:avLst/>
          </a:prstGeom>
          <a:noFill/>
        </p:spPr>
        <p:txBody>
          <a:bodyPr wrap="square" rtlCol="0">
            <a:spAutoFit/>
          </a:bodyPr>
          <a:lstStyle/>
          <a:p>
            <a:r>
              <a:rPr lang="fr-FR" sz="3200" dirty="0"/>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ext 0"/>
          <p:cNvSpPr/>
          <p:nvPr/>
        </p:nvSpPr>
        <p:spPr>
          <a:xfrm>
            <a:off x="451412" y="554355"/>
            <a:ext cx="5701546" cy="712708"/>
          </a:xfrm>
          <a:prstGeom prst="rect">
            <a:avLst/>
          </a:prstGeom>
          <a:noFill/>
          <a:ln/>
        </p:spPr>
        <p:txBody>
          <a:bodyPr wrap="none" lIns="0" tIns="0" rIns="0" bIns="0" rtlCol="0" anchor="t"/>
          <a:lstStyle/>
          <a:p>
            <a:pPr marL="0" indent="0" algn="l">
              <a:lnSpc>
                <a:spcPts val="5600"/>
              </a:lnSpc>
              <a:buNone/>
            </a:pPr>
            <a:r>
              <a:rPr lang="en-US" sz="6000" b="1" dirty="0">
                <a:solidFill>
                  <a:srgbClr val="7030A0"/>
                </a:solidFill>
                <a:latin typeface="Barlow Bold" pitchFamily="34" charset="0"/>
                <a:ea typeface="Barlow Bold" pitchFamily="34" charset="-122"/>
                <a:cs typeface="Barlow Bold" pitchFamily="34" charset="-120"/>
              </a:rPr>
              <a:t>5-Conclusion:</a:t>
            </a:r>
            <a:endParaRPr lang="en-US" sz="6000" dirty="0">
              <a:solidFill>
                <a:srgbClr val="7030A0"/>
              </a:solidFill>
            </a:endParaRPr>
          </a:p>
        </p:txBody>
      </p:sp>
      <p:sp>
        <p:nvSpPr>
          <p:cNvPr id="3" name="Text 1"/>
          <p:cNvSpPr/>
          <p:nvPr/>
        </p:nvSpPr>
        <p:spPr>
          <a:xfrm>
            <a:off x="439837" y="1854011"/>
            <a:ext cx="13820173" cy="5999158"/>
          </a:xfrm>
          <a:prstGeom prst="rect">
            <a:avLst/>
          </a:prstGeom>
          <a:noFill/>
          <a:ln/>
        </p:spPr>
        <p:txBody>
          <a:bodyPr wrap="square" lIns="0" tIns="0" rIns="0" bIns="0" rtlCol="0" anchor="t"/>
          <a:lstStyle/>
          <a:p>
            <a:pPr>
              <a:lnSpc>
                <a:spcPts val="2700"/>
              </a:lnSpc>
            </a:pPr>
            <a:r>
              <a:rPr lang="en-US" sz="2800" dirty="0">
                <a:solidFill>
                  <a:srgbClr val="272525"/>
                </a:solidFill>
                <a:latin typeface="Montserrat" pitchFamily="34" charset="0"/>
                <a:ea typeface="Montserrat" pitchFamily="34" charset="-122"/>
                <a:cs typeface="Montserrat" pitchFamily="34" charset="-120"/>
              </a:rPr>
              <a:t>En résumé, l'application </a:t>
            </a:r>
            <a:r>
              <a:rPr lang="en-US" sz="2800" b="1" dirty="0">
                <a:solidFill>
                  <a:srgbClr val="272525"/>
                </a:solidFill>
                <a:latin typeface="Montserrat" pitchFamily="34" charset="0"/>
                <a:ea typeface="Montserrat" pitchFamily="34" charset="-122"/>
                <a:cs typeface="Montserrat" pitchFamily="34" charset="-120"/>
              </a:rPr>
              <a:t>SmartCare</a:t>
            </a:r>
            <a:r>
              <a:rPr lang="en-US" sz="2800" dirty="0">
                <a:solidFill>
                  <a:srgbClr val="272525"/>
                </a:solidFill>
                <a:latin typeface="Montserrat" pitchFamily="34" charset="0"/>
                <a:ea typeface="Montserrat" pitchFamily="34" charset="-122"/>
                <a:cs typeface="Montserrat" pitchFamily="34" charset="-120"/>
              </a:rPr>
              <a:t> propose une solution </a:t>
            </a:r>
            <a:r>
              <a:rPr lang="en-US" sz="2800" dirty="0" err="1">
                <a:solidFill>
                  <a:srgbClr val="272525"/>
                </a:solidFill>
                <a:latin typeface="Montserrat" pitchFamily="34" charset="0"/>
                <a:ea typeface="Montserrat" pitchFamily="34" charset="-122"/>
                <a:cs typeface="Montserrat" pitchFamily="34" charset="-120"/>
              </a:rPr>
              <a:t>innovante</a:t>
            </a:r>
            <a:r>
              <a:rPr lang="en-US" sz="2800" dirty="0">
                <a:solidFill>
                  <a:srgbClr val="272525"/>
                </a:solidFill>
                <a:latin typeface="Montserrat" pitchFamily="34" charset="0"/>
                <a:ea typeface="Montserrat" pitchFamily="34" charset="-122"/>
                <a:cs typeface="Montserrat" pitchFamily="34" charset="-120"/>
              </a:rPr>
              <a:t> pour</a:t>
            </a:r>
          </a:p>
          <a:p>
            <a:pPr marL="0" indent="0" algn="l">
              <a:lnSpc>
                <a:spcPts val="2700"/>
              </a:lnSpc>
              <a:buNone/>
            </a:pPr>
            <a:endParaRPr lang="en-US" sz="2800" dirty="0">
              <a:solidFill>
                <a:srgbClr val="272525"/>
              </a:solidFill>
              <a:latin typeface="Montserrat" pitchFamily="34" charset="0"/>
              <a:ea typeface="Montserrat" pitchFamily="34" charset="-122"/>
              <a:cs typeface="Montserrat" pitchFamily="34" charset="-120"/>
            </a:endParaRPr>
          </a:p>
          <a:p>
            <a:pPr marL="0" indent="0" algn="l">
              <a:lnSpc>
                <a:spcPts val="2700"/>
              </a:lnSpc>
              <a:buNone/>
            </a:pPr>
            <a:r>
              <a:rPr lang="en-US" sz="2800" dirty="0">
                <a:solidFill>
                  <a:srgbClr val="272525"/>
                </a:solidFill>
                <a:latin typeface="Montserrat" pitchFamily="34" charset="0"/>
                <a:ea typeface="Montserrat" pitchFamily="34" charset="-122"/>
                <a:cs typeface="Montserrat" pitchFamily="34" charset="-120"/>
              </a:rPr>
              <a:t> le suivi des patients atteints de maladies chroniques, en </a:t>
            </a:r>
            <a:r>
              <a:rPr lang="en-US" sz="2800" dirty="0" err="1">
                <a:solidFill>
                  <a:srgbClr val="272525"/>
                </a:solidFill>
                <a:latin typeface="Montserrat" pitchFamily="34" charset="0"/>
                <a:ea typeface="Montserrat" pitchFamily="34" charset="-122"/>
                <a:cs typeface="Montserrat" pitchFamily="34" charset="-120"/>
              </a:rPr>
              <a:t>intégrant</a:t>
            </a:r>
            <a:r>
              <a:rPr lang="en-US" sz="2800" dirty="0">
                <a:solidFill>
                  <a:srgbClr val="272525"/>
                </a:solidFill>
                <a:latin typeface="Montserrat" pitchFamily="34" charset="0"/>
                <a:ea typeface="Montserrat" pitchFamily="34" charset="-122"/>
                <a:cs typeface="Montserrat" pitchFamily="34" charset="-120"/>
              </a:rPr>
              <a:t> des</a:t>
            </a:r>
          </a:p>
          <a:p>
            <a:pPr marL="0" indent="0" algn="l">
              <a:lnSpc>
                <a:spcPts val="2700"/>
              </a:lnSpc>
              <a:buNone/>
            </a:pPr>
            <a:endParaRPr lang="en-US" sz="2800" dirty="0">
              <a:solidFill>
                <a:srgbClr val="272525"/>
              </a:solidFill>
              <a:latin typeface="Montserrat" pitchFamily="34" charset="0"/>
              <a:ea typeface="Montserrat" pitchFamily="34" charset="-122"/>
              <a:cs typeface="Montserrat" pitchFamily="34" charset="-120"/>
            </a:endParaRPr>
          </a:p>
          <a:p>
            <a:pPr marL="0" indent="0" algn="l">
              <a:lnSpc>
                <a:spcPts val="2700"/>
              </a:lnSpc>
              <a:buNone/>
            </a:pPr>
            <a:r>
              <a:rPr lang="en-US" sz="2800" dirty="0">
                <a:solidFill>
                  <a:srgbClr val="272525"/>
                </a:solidFill>
                <a:latin typeface="Montserrat" pitchFamily="34" charset="0"/>
                <a:ea typeface="Montserrat" pitchFamily="34" charset="-122"/>
                <a:cs typeface="Montserrat" pitchFamily="34" charset="-120"/>
              </a:rPr>
              <a:t> fonctionnalités telles que la surveillance des paramètres vitaux, les</a:t>
            </a:r>
          </a:p>
          <a:p>
            <a:pPr marL="0" indent="0" algn="l">
              <a:lnSpc>
                <a:spcPts val="2700"/>
              </a:lnSpc>
              <a:buNone/>
            </a:pPr>
            <a:endParaRPr lang="en-US" sz="2800" dirty="0">
              <a:solidFill>
                <a:srgbClr val="272525"/>
              </a:solidFill>
              <a:latin typeface="Montserrat" pitchFamily="34" charset="0"/>
              <a:ea typeface="Montserrat" pitchFamily="34" charset="-122"/>
              <a:cs typeface="Montserrat" pitchFamily="34" charset="-120"/>
            </a:endParaRPr>
          </a:p>
          <a:p>
            <a:pPr marL="0" indent="0" algn="l">
              <a:lnSpc>
                <a:spcPts val="2700"/>
              </a:lnSpc>
              <a:buNone/>
            </a:pPr>
            <a:r>
              <a:rPr lang="en-US" sz="2800" dirty="0">
                <a:solidFill>
                  <a:srgbClr val="272525"/>
                </a:solidFill>
                <a:latin typeface="Montserrat" pitchFamily="34" charset="0"/>
                <a:ea typeface="Montserrat" pitchFamily="34" charset="-122"/>
                <a:cs typeface="Montserrat" pitchFamily="34" charset="-120"/>
              </a:rPr>
              <a:t> rappels de médicaments, et les alertes automatiques en cas </a:t>
            </a:r>
            <a:r>
              <a:rPr lang="en-US" sz="2800" dirty="0" err="1">
                <a:solidFill>
                  <a:srgbClr val="272525"/>
                </a:solidFill>
                <a:latin typeface="Montserrat" pitchFamily="34" charset="0"/>
                <a:ea typeface="Montserrat" pitchFamily="34" charset="-122"/>
                <a:cs typeface="Montserrat" pitchFamily="34" charset="-120"/>
              </a:rPr>
              <a:t>d'anomalie</a:t>
            </a:r>
            <a:r>
              <a:rPr lang="en-US" sz="2800" dirty="0">
                <a:solidFill>
                  <a:srgbClr val="272525"/>
                </a:solidFill>
                <a:latin typeface="Montserrat" pitchFamily="34" charset="0"/>
                <a:ea typeface="Montserrat" pitchFamily="34" charset="-122"/>
                <a:cs typeface="Montserrat" pitchFamily="34" charset="-120"/>
              </a:rPr>
              <a:t>.</a:t>
            </a:r>
          </a:p>
          <a:p>
            <a:pPr marL="0" indent="0" algn="l">
              <a:lnSpc>
                <a:spcPts val="2700"/>
              </a:lnSpc>
              <a:buNone/>
            </a:pPr>
            <a:endParaRPr lang="en-US" sz="2800" dirty="0">
              <a:solidFill>
                <a:srgbClr val="272525"/>
              </a:solidFill>
              <a:latin typeface="Montserrat" pitchFamily="34" charset="0"/>
              <a:ea typeface="Montserrat" pitchFamily="34" charset="-122"/>
              <a:cs typeface="Montserrat" pitchFamily="34" charset="-120"/>
            </a:endParaRPr>
          </a:p>
          <a:p>
            <a:pPr marL="0" indent="0" algn="l">
              <a:lnSpc>
                <a:spcPts val="2700"/>
              </a:lnSpc>
              <a:buNone/>
            </a:pPr>
            <a:r>
              <a:rPr lang="en-US" sz="2800" dirty="0">
                <a:solidFill>
                  <a:srgbClr val="272525"/>
                </a:solidFill>
                <a:latin typeface="Montserrat" pitchFamily="34" charset="0"/>
                <a:ea typeface="Montserrat" pitchFamily="34" charset="-122"/>
                <a:cs typeface="Montserrat" pitchFamily="34" charset="-120"/>
              </a:rPr>
              <a:t> Le projet vise à offrir une </a:t>
            </a:r>
            <a:r>
              <a:rPr lang="en-US" sz="2800" b="1" dirty="0">
                <a:solidFill>
                  <a:srgbClr val="272525"/>
                </a:solidFill>
                <a:latin typeface="Montserrat" pitchFamily="34" charset="0"/>
                <a:ea typeface="Montserrat" pitchFamily="34" charset="-122"/>
                <a:cs typeface="Montserrat" pitchFamily="34" charset="-120"/>
              </a:rPr>
              <a:t>solution sécurisée</a:t>
            </a:r>
            <a:r>
              <a:rPr lang="en-US" sz="2800" dirty="0">
                <a:solidFill>
                  <a:srgbClr val="272525"/>
                </a:solidFill>
                <a:latin typeface="Montserrat" pitchFamily="34" charset="0"/>
                <a:ea typeface="Montserrat" pitchFamily="34" charset="-122"/>
                <a:cs typeface="Montserrat" pitchFamily="34" charset="-120"/>
              </a:rPr>
              <a:t> et </a:t>
            </a:r>
            <a:r>
              <a:rPr lang="en-US" sz="2800" b="1" dirty="0">
                <a:solidFill>
                  <a:srgbClr val="272525"/>
                </a:solidFill>
                <a:latin typeface="Montserrat" pitchFamily="34" charset="0"/>
                <a:ea typeface="Montserrat" pitchFamily="34" charset="-122"/>
                <a:cs typeface="Montserrat" pitchFamily="34" charset="-120"/>
              </a:rPr>
              <a:t>fiable</a:t>
            </a:r>
            <a:r>
              <a:rPr lang="en-US" sz="2800" dirty="0">
                <a:solidFill>
                  <a:srgbClr val="272525"/>
                </a:solidFill>
                <a:latin typeface="Montserrat" pitchFamily="34" charset="0"/>
                <a:ea typeface="Montserrat" pitchFamily="34" charset="-122"/>
                <a:cs typeface="Montserrat" pitchFamily="34" charset="-120"/>
              </a:rPr>
              <a:t>, avec des tests</a:t>
            </a:r>
          </a:p>
          <a:p>
            <a:pPr marL="0" indent="0" algn="l">
              <a:lnSpc>
                <a:spcPts val="2700"/>
              </a:lnSpc>
              <a:buNone/>
            </a:pPr>
            <a:endParaRPr lang="en-US" sz="2800" dirty="0">
              <a:solidFill>
                <a:srgbClr val="272525"/>
              </a:solidFill>
              <a:latin typeface="Montserrat" pitchFamily="34" charset="0"/>
              <a:ea typeface="Montserrat" pitchFamily="34" charset="-122"/>
              <a:cs typeface="Montserrat" pitchFamily="34" charset="-120"/>
            </a:endParaRPr>
          </a:p>
          <a:p>
            <a:pPr marL="0" indent="0" algn="l">
              <a:lnSpc>
                <a:spcPts val="2700"/>
              </a:lnSpc>
              <a:buNone/>
            </a:pPr>
            <a:r>
              <a:rPr lang="en-US" sz="2800" dirty="0">
                <a:solidFill>
                  <a:srgbClr val="272525"/>
                </a:solidFill>
                <a:latin typeface="Montserrat" pitchFamily="34" charset="0"/>
                <a:ea typeface="Montserrat" pitchFamily="34" charset="-122"/>
                <a:cs typeface="Montserrat" pitchFamily="34" charset="-120"/>
              </a:rPr>
              <a:t> utilisateurs et une phase pilote pour garantir son efficacité </a:t>
            </a:r>
            <a:r>
              <a:rPr lang="en-US" sz="2800" dirty="0" err="1">
                <a:solidFill>
                  <a:srgbClr val="272525"/>
                </a:solidFill>
                <a:latin typeface="Montserrat" pitchFamily="34" charset="0"/>
                <a:ea typeface="Montserrat" pitchFamily="34" charset="-122"/>
                <a:cs typeface="Montserrat" pitchFamily="34" charset="-120"/>
              </a:rPr>
              <a:t>avant</a:t>
            </a:r>
            <a:r>
              <a:rPr lang="en-US" sz="2800" dirty="0">
                <a:solidFill>
                  <a:srgbClr val="272525"/>
                </a:solidFill>
                <a:latin typeface="Montserrat" pitchFamily="34" charset="0"/>
                <a:ea typeface="Montserrat" pitchFamily="34" charset="-122"/>
                <a:cs typeface="Montserrat" pitchFamily="34" charset="-120"/>
              </a:rPr>
              <a:t> le</a:t>
            </a:r>
          </a:p>
          <a:p>
            <a:pPr marL="0" indent="0" algn="l">
              <a:lnSpc>
                <a:spcPts val="2700"/>
              </a:lnSpc>
              <a:buNone/>
            </a:pPr>
            <a:endParaRPr lang="en-US" sz="2800" dirty="0">
              <a:solidFill>
                <a:srgbClr val="272525"/>
              </a:solidFill>
              <a:latin typeface="Montserrat" pitchFamily="34" charset="0"/>
              <a:ea typeface="Montserrat" pitchFamily="34" charset="-122"/>
              <a:cs typeface="Montserrat" pitchFamily="34" charset="-120"/>
            </a:endParaRPr>
          </a:p>
          <a:p>
            <a:pPr marL="0" indent="0" algn="l">
              <a:lnSpc>
                <a:spcPts val="2700"/>
              </a:lnSpc>
              <a:buNone/>
            </a:pPr>
            <a:r>
              <a:rPr lang="en-US" sz="2800" dirty="0">
                <a:solidFill>
                  <a:srgbClr val="272525"/>
                </a:solidFill>
                <a:latin typeface="Montserrat" pitchFamily="34" charset="0"/>
                <a:ea typeface="Montserrat" pitchFamily="34" charset="-122"/>
                <a:cs typeface="Montserrat" pitchFamily="34" charset="-120"/>
              </a:rPr>
              <a:t> lancement. SmartCare représente ainsi un outil précieux pour </a:t>
            </a:r>
            <a:r>
              <a:rPr lang="en-US" sz="2800" dirty="0" err="1">
                <a:solidFill>
                  <a:srgbClr val="272525"/>
                </a:solidFill>
                <a:latin typeface="Montserrat" pitchFamily="34" charset="0"/>
                <a:ea typeface="Montserrat" pitchFamily="34" charset="-122"/>
                <a:cs typeface="Montserrat" pitchFamily="34" charset="-120"/>
              </a:rPr>
              <a:t>améliorer</a:t>
            </a:r>
            <a:endParaRPr lang="en-US" sz="2800" dirty="0">
              <a:solidFill>
                <a:srgbClr val="272525"/>
              </a:solidFill>
              <a:latin typeface="Montserrat" pitchFamily="34" charset="0"/>
              <a:ea typeface="Montserrat" pitchFamily="34" charset="-122"/>
              <a:cs typeface="Montserrat" pitchFamily="34" charset="-120"/>
            </a:endParaRPr>
          </a:p>
          <a:p>
            <a:pPr marL="0" indent="0" algn="l">
              <a:lnSpc>
                <a:spcPts val="2700"/>
              </a:lnSpc>
              <a:buNone/>
            </a:pPr>
            <a:endParaRPr lang="en-US" sz="2800" dirty="0">
              <a:solidFill>
                <a:srgbClr val="272525"/>
              </a:solidFill>
              <a:latin typeface="Montserrat" pitchFamily="34" charset="0"/>
              <a:ea typeface="Montserrat" pitchFamily="34" charset="-122"/>
              <a:cs typeface="Montserrat" pitchFamily="34" charset="-120"/>
            </a:endParaRPr>
          </a:p>
          <a:p>
            <a:pPr marL="0" indent="0" algn="l">
              <a:lnSpc>
                <a:spcPts val="2700"/>
              </a:lnSpc>
              <a:buNone/>
            </a:pPr>
            <a:r>
              <a:rPr lang="en-US" sz="2800" dirty="0">
                <a:solidFill>
                  <a:srgbClr val="272525"/>
                </a:solidFill>
                <a:latin typeface="Montserrat" pitchFamily="34" charset="0"/>
                <a:ea typeface="Montserrat" pitchFamily="34" charset="-122"/>
                <a:cs typeface="Montserrat" pitchFamily="34" charset="-120"/>
              </a:rPr>
              <a:t> la gestion des maladies chroniques et la réactivité en </a:t>
            </a:r>
            <a:r>
              <a:rPr lang="en-US" sz="2800" dirty="0" err="1">
                <a:solidFill>
                  <a:srgbClr val="272525"/>
                </a:solidFill>
                <a:latin typeface="Montserrat" pitchFamily="34" charset="0"/>
                <a:ea typeface="Montserrat" pitchFamily="34" charset="-122"/>
                <a:cs typeface="Montserrat" pitchFamily="34" charset="-120"/>
              </a:rPr>
              <a:t>cas</a:t>
            </a:r>
            <a:r>
              <a:rPr lang="en-US" sz="2800" dirty="0">
                <a:solidFill>
                  <a:srgbClr val="272525"/>
                </a:solidFill>
                <a:latin typeface="Montserrat" pitchFamily="34" charset="0"/>
                <a:ea typeface="Montserrat" pitchFamily="34" charset="-122"/>
                <a:cs typeface="Montserrat" pitchFamily="34" charset="-120"/>
              </a:rPr>
              <a:t> </a:t>
            </a:r>
            <a:r>
              <a:rPr lang="en-US" sz="2800" dirty="0" err="1">
                <a:solidFill>
                  <a:srgbClr val="272525"/>
                </a:solidFill>
                <a:latin typeface="Montserrat" pitchFamily="34" charset="0"/>
                <a:ea typeface="Montserrat" pitchFamily="34" charset="-122"/>
                <a:cs typeface="Montserrat" pitchFamily="34" charset="-120"/>
              </a:rPr>
              <a:t>d'urgence</a:t>
            </a:r>
            <a:endParaRPr lang="en-US" sz="2800" dirty="0">
              <a:solidFill>
                <a:srgbClr val="272525"/>
              </a:solidFill>
              <a:latin typeface="Montserrat" pitchFamily="34" charset="0"/>
              <a:ea typeface="Montserrat" pitchFamily="34" charset="-122"/>
              <a:cs typeface="Montserrat" pitchFamily="34" charset="-120"/>
            </a:endParaRPr>
          </a:p>
          <a:p>
            <a:pPr marL="0" indent="0" algn="l">
              <a:lnSpc>
                <a:spcPts val="2700"/>
              </a:lnSpc>
              <a:buNone/>
            </a:pPr>
            <a:endParaRPr lang="en-US" sz="2800" dirty="0">
              <a:solidFill>
                <a:srgbClr val="272525"/>
              </a:solidFill>
              <a:latin typeface="Montserrat" pitchFamily="34" charset="0"/>
              <a:ea typeface="Montserrat" pitchFamily="34" charset="-122"/>
              <a:cs typeface="Montserrat" pitchFamily="34" charset="-120"/>
            </a:endParaRPr>
          </a:p>
          <a:p>
            <a:pPr marL="0" indent="0" algn="l">
              <a:lnSpc>
                <a:spcPts val="2700"/>
              </a:lnSpc>
              <a:buNone/>
            </a:pPr>
            <a:r>
              <a:rPr lang="en-US" sz="2800" dirty="0">
                <a:solidFill>
                  <a:srgbClr val="272525"/>
                </a:solidFill>
                <a:latin typeface="Montserrat" pitchFamily="34" charset="0"/>
                <a:ea typeface="Montserrat" pitchFamily="34" charset="-122"/>
                <a:cs typeface="Montserrat" pitchFamily="34" charset="-120"/>
              </a:rPr>
              <a:t> </a:t>
            </a:r>
            <a:r>
              <a:rPr lang="en-US" sz="2800" dirty="0" err="1">
                <a:solidFill>
                  <a:srgbClr val="272525"/>
                </a:solidFill>
                <a:latin typeface="Montserrat" pitchFamily="34" charset="0"/>
                <a:ea typeface="Montserrat" pitchFamily="34" charset="-122"/>
                <a:cs typeface="Montserrat" pitchFamily="34" charset="-120"/>
              </a:rPr>
              <a:t>médicale</a:t>
            </a:r>
            <a:r>
              <a:rPr lang="en-US" sz="2800" dirty="0">
                <a:solidFill>
                  <a:srgbClr val="272525"/>
                </a:solidFill>
                <a:latin typeface="Montserrat" pitchFamily="34" charset="0"/>
                <a:ea typeface="Montserrat" pitchFamily="34" charset="-122"/>
                <a:cs typeface="Montserrat" pitchFamily="34" charset="-120"/>
              </a:rPr>
              <a:t>.</a:t>
            </a:r>
            <a:endParaRPr lang="en-US" sz="2800" dirty="0"/>
          </a:p>
        </p:txBody>
      </p:sp>
      <p:sp>
        <p:nvSpPr>
          <p:cNvPr id="4" name="ZoneTexte 3">
            <a:extLst>
              <a:ext uri="{FF2B5EF4-FFF2-40B4-BE49-F238E27FC236}">
                <a16:creationId xmlns:a16="http://schemas.microsoft.com/office/drawing/2014/main" id="{2FDEC6DC-E325-DF7E-1CC7-4EFB334BFE84}"/>
              </a:ext>
            </a:extLst>
          </p:cNvPr>
          <p:cNvSpPr txBox="1"/>
          <p:nvPr/>
        </p:nvSpPr>
        <p:spPr>
          <a:xfrm>
            <a:off x="13950535" y="7644825"/>
            <a:ext cx="601447" cy="584775"/>
          </a:xfrm>
          <a:prstGeom prst="rect">
            <a:avLst/>
          </a:prstGeom>
          <a:noFill/>
        </p:spPr>
        <p:txBody>
          <a:bodyPr wrap="none" rtlCol="0">
            <a:spAutoFit/>
          </a:bodyPr>
          <a:lstStyle/>
          <a:p>
            <a:r>
              <a:rPr lang="fr-FR" sz="3200" dirty="0"/>
              <a:t>14</a:t>
            </a:r>
          </a:p>
        </p:txBody>
      </p:sp>
    </p:spTree>
  </p:cSld>
  <p:clrMapOvr>
    <a:masterClrMapping/>
  </p:clrMapOvr>
</p:sld>
</file>

<file path=ppt/theme/theme1.xml><?xml version="1.0" encoding="utf-8"?>
<a:theme xmlns:a="http://schemas.openxmlformats.org/drawingml/2006/main" name="Thème Offic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470</TotalTime>
  <Words>1177</Words>
  <Application>Microsoft Office PowerPoint</Application>
  <PresentationFormat>Personnalisé</PresentationFormat>
  <Paragraphs>200</Paragraphs>
  <Slides>14</Slides>
  <Notes>10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Calibri Light</vt:lpstr>
      <vt:lpstr>Arial</vt:lpstr>
      <vt:lpstr>Barlow Bold</vt:lpstr>
      <vt:lpstr>Calibri</vt:lpstr>
      <vt:lpstr>Consolas</vt:lpstr>
      <vt:lpstr>Montserrat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houwaida tray</cp:lastModifiedBy>
  <cp:revision>14</cp:revision>
  <dcterms:created xsi:type="dcterms:W3CDTF">2025-03-17T15:39:51Z</dcterms:created>
  <dcterms:modified xsi:type="dcterms:W3CDTF">2025-04-21T20:10:18Z</dcterms:modified>
</cp:coreProperties>
</file>